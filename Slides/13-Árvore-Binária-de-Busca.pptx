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81" r:id="rId3"/>
    <p:sldId id="286" r:id="rId4"/>
    <p:sldId id="283" r:id="rId5"/>
    <p:sldId id="282" r:id="rId6"/>
    <p:sldId id="284" r:id="rId7"/>
    <p:sldId id="285" r:id="rId8"/>
    <p:sldId id="287" r:id="rId9"/>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E11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2941" autoAdjust="0"/>
  </p:normalViewPr>
  <p:slideViewPr>
    <p:cSldViewPr>
      <p:cViewPr varScale="1">
        <p:scale>
          <a:sx n="73" d="100"/>
          <a:sy n="73" d="100"/>
        </p:scale>
        <p:origin x="1661"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2503982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1448052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914839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1628009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147700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3707745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2650243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1593655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2039709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304611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A061563A-35C7-49EE-9FEB-8EB53781E0B1}" type="datetimeFigureOut">
              <a:rPr lang="pt-BR" smtClean="0"/>
              <a:t>07/02/2026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179D665B-AE82-421C-9889-B36DA14A18A9}" type="slidenum">
              <a:rPr lang="pt-BR" smtClean="0"/>
              <a:t>‹nº›</a:t>
            </a:fld>
            <a:endParaRPr lang="pt-BR" dirty="0"/>
          </a:p>
        </p:txBody>
      </p:sp>
    </p:spTree>
    <p:extLst>
      <p:ext uri="{BB962C8B-B14F-4D97-AF65-F5344CB8AC3E}">
        <p14:creationId xmlns:p14="http://schemas.microsoft.com/office/powerpoint/2010/main" val="3998387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61563A-35C7-49EE-9FEB-8EB53781E0B1}" type="datetimeFigureOut">
              <a:rPr lang="pt-BR" smtClean="0"/>
              <a:t>07/02/2026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9D665B-AE82-421C-9889-B36DA14A18A9}" type="slidenum">
              <a:rPr lang="pt-BR" smtClean="0"/>
              <a:t>‹nº›</a:t>
            </a:fld>
            <a:endParaRPr lang="pt-BR" dirty="0"/>
          </a:p>
        </p:txBody>
      </p:sp>
    </p:spTree>
    <p:extLst>
      <p:ext uri="{BB962C8B-B14F-4D97-AF65-F5344CB8AC3E}">
        <p14:creationId xmlns:p14="http://schemas.microsoft.com/office/powerpoint/2010/main" val="973507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Agrupar 15">
            <a:extLst>
              <a:ext uri="{FF2B5EF4-FFF2-40B4-BE49-F238E27FC236}">
                <a16:creationId xmlns:a16="http://schemas.microsoft.com/office/drawing/2014/main" id="{C793E54F-88E8-16E3-AA0D-CA57A2948CC9}"/>
              </a:ext>
            </a:extLst>
          </p:cNvPr>
          <p:cNvGrpSpPr/>
          <p:nvPr/>
        </p:nvGrpSpPr>
        <p:grpSpPr>
          <a:xfrm>
            <a:off x="3528742" y="1011208"/>
            <a:ext cx="5507754" cy="4013036"/>
            <a:chOff x="3528742" y="1038240"/>
            <a:chExt cx="5507754" cy="4013036"/>
          </a:xfrm>
        </p:grpSpPr>
        <p:pic>
          <p:nvPicPr>
            <p:cNvPr id="1026" name="Picture 2" descr="Resultado de imagem para JS"/>
            <p:cNvPicPr>
              <a:picLocks noChangeAspect="1" noChangeArrowheads="1"/>
            </p:cNvPicPr>
            <p:nvPr/>
          </p:nvPicPr>
          <p:blipFill rotWithShape="1">
            <a:blip r:embed="rId2">
              <a:extLst>
                <a:ext uri="{28A0092B-C50C-407E-A947-70E740481C1C}">
                  <a14:useLocalDpi xmlns:a14="http://schemas.microsoft.com/office/drawing/2010/main" val="0"/>
                </a:ext>
              </a:extLst>
            </a:blip>
            <a:srcRect l="19808" t="10773" r="19724" b="10902"/>
            <a:stretch/>
          </p:blipFill>
          <p:spPr bwMode="auto">
            <a:xfrm>
              <a:off x="3528742" y="1038240"/>
              <a:ext cx="5507754" cy="401303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Resultado de imagem para JS">
              <a:extLst>
                <a:ext uri="{FF2B5EF4-FFF2-40B4-BE49-F238E27FC236}">
                  <a16:creationId xmlns:a16="http://schemas.microsoft.com/office/drawing/2014/main" id="{AE6353BD-0D9E-22B7-E114-31FF25F9C44C}"/>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52297" t="45124" r="41422" b="38398"/>
            <a:stretch>
              <a:fillRect/>
            </a:stretch>
          </p:blipFill>
          <p:spPr bwMode="auto">
            <a:xfrm rot="2875517">
              <a:off x="7359489" y="3058432"/>
              <a:ext cx="413298" cy="61021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Resultado de imagem para JS">
              <a:extLst>
                <a:ext uri="{FF2B5EF4-FFF2-40B4-BE49-F238E27FC236}">
                  <a16:creationId xmlns:a16="http://schemas.microsoft.com/office/drawing/2014/main" id="{54641B3D-597E-C89B-D0C1-01DBB3BBC52B}"/>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52297" t="45124" r="41422" b="38398"/>
            <a:stretch>
              <a:fillRect/>
            </a:stretch>
          </p:blipFill>
          <p:spPr bwMode="auto">
            <a:xfrm rot="2875517">
              <a:off x="7133133" y="2833662"/>
              <a:ext cx="413298" cy="61021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Resultado de imagem para JS">
              <a:extLst>
                <a:ext uri="{FF2B5EF4-FFF2-40B4-BE49-F238E27FC236}">
                  <a16:creationId xmlns:a16="http://schemas.microsoft.com/office/drawing/2014/main" id="{4818BC0B-525A-7E91-FBA6-B396B9AE2A7F}"/>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52297" t="45124" r="41422" b="38398"/>
            <a:stretch>
              <a:fillRect/>
            </a:stretch>
          </p:blipFill>
          <p:spPr bwMode="auto">
            <a:xfrm rot="2875517">
              <a:off x="7085980" y="3353357"/>
              <a:ext cx="413298" cy="610211"/>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ítulo 1"/>
          <p:cNvSpPr>
            <a:spLocks noGrp="1"/>
          </p:cNvSpPr>
          <p:nvPr>
            <p:ph type="ctrTitle"/>
          </p:nvPr>
        </p:nvSpPr>
        <p:spPr>
          <a:xfrm>
            <a:off x="0" y="5229200"/>
            <a:ext cx="9144000" cy="1628800"/>
          </a:xfrm>
          <a:solidFill>
            <a:srgbClr val="FFFF00"/>
          </a:solidFill>
        </p:spPr>
        <p:txBody>
          <a:bodyPr>
            <a:noAutofit/>
          </a:bodyPr>
          <a:lstStyle/>
          <a:p>
            <a:r>
              <a:rPr lang="pt-BR" sz="6000" dirty="0">
                <a:solidFill>
                  <a:srgbClr val="7030A0"/>
                </a:solidFill>
                <a:latin typeface="Impact" panose="020B0806030902050204" pitchFamily="34" charset="0"/>
                <a:cs typeface="Arial" pitchFamily="34" charset="0"/>
              </a:rPr>
              <a:t>“</a:t>
            </a:r>
            <a:r>
              <a:rPr lang="pt-BR" sz="6000" dirty="0">
                <a:latin typeface="Impact" panose="020B0806030902050204" pitchFamily="34" charset="0"/>
                <a:cs typeface="Arial" pitchFamily="34" charset="0"/>
              </a:rPr>
              <a:t>ÁRVORE BINÁRIA DE BUSCA</a:t>
            </a:r>
            <a:r>
              <a:rPr lang="pt-BR" sz="6000" dirty="0">
                <a:solidFill>
                  <a:srgbClr val="7030A0"/>
                </a:solidFill>
                <a:latin typeface="Impact" panose="020B0806030902050204" pitchFamily="34" charset="0"/>
                <a:cs typeface="Arial" pitchFamily="34" charset="0"/>
              </a:rPr>
              <a:t>”</a:t>
            </a:r>
            <a:endParaRPr lang="pt-BR" sz="3600" b="1" dirty="0">
              <a:solidFill>
                <a:srgbClr val="7030A0"/>
              </a:solidFill>
              <a:latin typeface="Impact" panose="020B0806030902050204" pitchFamily="34" charset="0"/>
              <a:cs typeface="Arial" pitchFamily="34" charset="0"/>
            </a:endParaRPr>
          </a:p>
        </p:txBody>
      </p:sp>
      <p:sp useBgFill="1">
        <p:nvSpPr>
          <p:cNvPr id="7" name="CaixaDeTexto 6"/>
          <p:cNvSpPr txBox="1"/>
          <p:nvPr/>
        </p:nvSpPr>
        <p:spPr>
          <a:xfrm>
            <a:off x="35496" y="3302056"/>
            <a:ext cx="3811040" cy="1077218"/>
          </a:xfrm>
          <a:prstGeom prst="rect">
            <a:avLst/>
          </a:prstGeom>
        </p:spPr>
        <p:txBody>
          <a:bodyPr wrap="square" rtlCol="0">
            <a:spAutoFit/>
          </a:bodyPr>
          <a:lstStyle/>
          <a:p>
            <a:pPr algn="r"/>
            <a:r>
              <a:rPr lang="pt-BR" sz="3200" dirty="0">
                <a:solidFill>
                  <a:srgbClr val="E11F3B"/>
                </a:solidFill>
                <a:latin typeface="Dreaming Outloud Script Pro" panose="03050502040304050704" pitchFamily="66" charset="0"/>
                <a:cs typeface="Dreaming Outloud Script Pro" panose="03050502040304050704" pitchFamily="66" charset="0"/>
              </a:rPr>
              <a:t>Prof.º</a:t>
            </a:r>
          </a:p>
          <a:p>
            <a:pPr algn="r"/>
            <a:r>
              <a:rPr lang="pt-BR" sz="3200" dirty="0">
                <a:solidFill>
                  <a:srgbClr val="E11F3B"/>
                </a:solidFill>
                <a:latin typeface="Dreaming Outloud Script Pro" panose="03050502040304050704" pitchFamily="66" charset="0"/>
                <a:cs typeface="Dreaming Outloud Script Pro" panose="03050502040304050704" pitchFamily="66" charset="0"/>
              </a:rPr>
              <a:t>Alexandre Gomes</a:t>
            </a:r>
          </a:p>
        </p:txBody>
      </p:sp>
      <p:sp>
        <p:nvSpPr>
          <p:cNvPr id="3" name="Retângulo 2"/>
          <p:cNvSpPr/>
          <p:nvPr/>
        </p:nvSpPr>
        <p:spPr>
          <a:xfrm>
            <a:off x="189672" y="4232156"/>
            <a:ext cx="3888432" cy="400110"/>
          </a:xfrm>
          <a:prstGeom prst="rect">
            <a:avLst/>
          </a:prstGeom>
        </p:spPr>
        <p:txBody>
          <a:bodyPr wrap="square">
            <a:spAutoFit/>
          </a:bodyPr>
          <a:lstStyle/>
          <a:p>
            <a:r>
              <a:rPr lang="pt-BR" sz="2000" dirty="0">
                <a:solidFill>
                  <a:srgbClr val="00B0F0"/>
                </a:solidFill>
              </a:rPr>
              <a:t>alexandre.</a:t>
            </a:r>
            <a:r>
              <a:rPr lang="pt-BR" sz="2000" dirty="0">
                <a:solidFill>
                  <a:srgbClr val="FFFF00"/>
                </a:solidFill>
              </a:rPr>
              <a:t>silva</a:t>
            </a:r>
            <a:r>
              <a:rPr lang="pt-BR" sz="2000" dirty="0">
                <a:solidFill>
                  <a:srgbClr val="00B050"/>
                </a:solidFill>
              </a:rPr>
              <a:t>251</a:t>
            </a:r>
            <a:r>
              <a:rPr lang="pt-BR" sz="2000" dirty="0">
                <a:solidFill>
                  <a:srgbClr val="7030A0"/>
                </a:solidFill>
              </a:rPr>
              <a:t>@fatec.</a:t>
            </a:r>
            <a:r>
              <a:rPr lang="pt-BR" sz="2000" dirty="0">
                <a:solidFill>
                  <a:schemeClr val="bg1"/>
                </a:solidFill>
              </a:rPr>
              <a:t>sp.</a:t>
            </a:r>
            <a:r>
              <a:rPr lang="pt-BR" sz="2000" dirty="0">
                <a:solidFill>
                  <a:schemeClr val="accent6">
                    <a:lumMod val="75000"/>
                  </a:schemeClr>
                </a:solidFill>
              </a:rPr>
              <a:t>gov.</a:t>
            </a:r>
            <a:r>
              <a:rPr lang="pt-BR" sz="2000" dirty="0">
                <a:solidFill>
                  <a:srgbClr val="FF0066"/>
                </a:solidFill>
              </a:rPr>
              <a:t>br</a:t>
            </a:r>
          </a:p>
        </p:txBody>
      </p:sp>
      <p:pic>
        <p:nvPicPr>
          <p:cNvPr id="4" name="Picture 2" descr="Java (programming language) - Wikipedia">
            <a:extLst>
              <a:ext uri="{FF2B5EF4-FFF2-40B4-BE49-F238E27FC236}">
                <a16:creationId xmlns:a16="http://schemas.microsoft.com/office/drawing/2014/main" id="{B58762D3-4FA3-88CD-AEF6-E8F4E8AD1F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7939" y="1163042"/>
            <a:ext cx="960888" cy="176190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Using Cordova with Apache NetBeans | Andres Zsogon">
            <a:extLst>
              <a:ext uri="{FF2B5EF4-FFF2-40B4-BE49-F238E27FC236}">
                <a16:creationId xmlns:a16="http://schemas.microsoft.com/office/drawing/2014/main" id="{7C5D3942-F637-1A16-B327-C695A61FE7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0394" y="342613"/>
            <a:ext cx="3035980" cy="948744"/>
          </a:xfrm>
          <a:prstGeom prst="rect">
            <a:avLst/>
          </a:prstGeom>
          <a:noFill/>
          <a:ln>
            <a:noFill/>
          </a:ln>
          <a:effectLst>
            <a:outerShdw blurRad="63500" sx="102000" sy="102000" algn="ctr" rotWithShape="0">
              <a:srgbClr val="FFFF00"/>
            </a:outerShdw>
            <a:softEdge rad="0"/>
          </a:effectLst>
          <a:extLst>
            <a:ext uri="{909E8E84-426E-40DD-AFC4-6F175D3DCCD1}">
              <a14:hiddenFill xmlns:a14="http://schemas.microsoft.com/office/drawing/2010/main">
                <a:solidFill>
                  <a:srgbClr val="FFFFFF"/>
                </a:solidFill>
              </a14:hiddenFill>
            </a:ext>
          </a:extLst>
        </p:spPr>
      </p:pic>
      <p:pic>
        <p:nvPicPr>
          <p:cNvPr id="1048" name="Picture 24" descr="Ícones, Logotipos, Símbolos de Java – Baixe gratuitamente em PNG, SVG">
            <a:extLst>
              <a:ext uri="{FF2B5EF4-FFF2-40B4-BE49-F238E27FC236}">
                <a16:creationId xmlns:a16="http://schemas.microsoft.com/office/drawing/2014/main" id="{9207BAD6-AB33-0C8A-2137-7DB694BC7AC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9017503">
            <a:off x="6312503" y="2467666"/>
            <a:ext cx="1453079" cy="1453079"/>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m 18" descr="Texto, Logotipo&#10;&#10;O conteúdo gerado por IA pode estar incorreto.">
            <a:extLst>
              <a:ext uri="{FF2B5EF4-FFF2-40B4-BE49-F238E27FC236}">
                <a16:creationId xmlns:a16="http://schemas.microsoft.com/office/drawing/2014/main" id="{FD5247E8-68CC-43A6-DA12-BEB3EED22308}"/>
              </a:ext>
            </a:extLst>
          </p:cNvPr>
          <p:cNvPicPr>
            <a:picLocks noChangeAspect="1"/>
          </p:cNvPicPr>
          <p:nvPr/>
        </p:nvPicPr>
        <p:blipFill>
          <a:blip r:embed="rId7"/>
          <a:stretch>
            <a:fillRect/>
          </a:stretch>
        </p:blipFill>
        <p:spPr>
          <a:xfrm>
            <a:off x="904114" y="4557915"/>
            <a:ext cx="2093870" cy="655912"/>
          </a:xfrm>
          <a:prstGeom prst="rect">
            <a:avLst/>
          </a:prstGeom>
        </p:spPr>
      </p:pic>
    </p:spTree>
    <p:extLst>
      <p:ext uri="{BB962C8B-B14F-4D97-AF65-F5344CB8AC3E}">
        <p14:creationId xmlns:p14="http://schemas.microsoft.com/office/powerpoint/2010/main" val="351507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324544" y="116632"/>
            <a:ext cx="8494912" cy="6740307"/>
          </a:xfrm>
          <a:prstGeom prst="rect">
            <a:avLst/>
          </a:prstGeom>
        </p:spPr>
        <p:txBody>
          <a:bodyPr wrap="square">
            <a:spAutoFit/>
          </a:bodyPr>
          <a:lstStyle/>
          <a:p>
            <a:pPr algn="just"/>
            <a:r>
              <a:rPr lang="pt-BR" sz="3600" dirty="0">
                <a:solidFill>
                  <a:srgbClr val="FF0066"/>
                </a:solidFill>
              </a:rPr>
              <a:t>Uma árvore binária de busca (ou árvore binária de pesquisa) é uma estrutura de dados de árvore binária baseada em nós, onde todos os nós da </a:t>
            </a:r>
            <a:r>
              <a:rPr lang="pt-BR" sz="3600" dirty="0" err="1">
                <a:solidFill>
                  <a:srgbClr val="FF0066"/>
                </a:solidFill>
              </a:rPr>
              <a:t>sub-árvore</a:t>
            </a:r>
            <a:r>
              <a:rPr lang="pt-BR" sz="3600" dirty="0">
                <a:solidFill>
                  <a:srgbClr val="FF0066"/>
                </a:solidFill>
              </a:rPr>
              <a:t> esquerda possuem um valor numérico inferior ao nó raiz e todos os nós da </a:t>
            </a:r>
            <a:r>
              <a:rPr lang="pt-BR" sz="3600" dirty="0" err="1">
                <a:solidFill>
                  <a:srgbClr val="FF0066"/>
                </a:solidFill>
              </a:rPr>
              <a:t>sub-árvore</a:t>
            </a:r>
            <a:r>
              <a:rPr lang="pt-BR" sz="3600" dirty="0">
                <a:solidFill>
                  <a:srgbClr val="FF0066"/>
                </a:solidFill>
              </a:rPr>
              <a:t> direita possuem um valor superior ao nó raiz (esta é a forma padrão, podendo as </a:t>
            </a:r>
            <a:r>
              <a:rPr lang="pt-BR" sz="3600" dirty="0" err="1">
                <a:solidFill>
                  <a:srgbClr val="FF0066"/>
                </a:solidFill>
              </a:rPr>
              <a:t>sub-árvores</a:t>
            </a:r>
            <a:r>
              <a:rPr lang="pt-BR" sz="3600" dirty="0">
                <a:solidFill>
                  <a:srgbClr val="FF0066"/>
                </a:solidFill>
              </a:rPr>
              <a:t> serem invertidas, dependendo da aplicação).</a:t>
            </a:r>
          </a:p>
          <a:p>
            <a:pPr algn="just"/>
            <a:endParaRPr lang="pt-BR" sz="3600" dirty="0">
              <a:solidFill>
                <a:srgbClr val="FF0066"/>
              </a:solidFill>
            </a:endParaRPr>
          </a:p>
          <a:p>
            <a:pPr algn="just"/>
            <a:r>
              <a:rPr lang="pt-BR" sz="3600" dirty="0">
                <a:solidFill>
                  <a:srgbClr val="FF0066"/>
                </a:solidFill>
              </a:rPr>
              <a:t>O objetivo desta árvore é estruturar os dados de forma a permitir busca binária.</a:t>
            </a:r>
          </a:p>
        </p:txBody>
      </p:sp>
    </p:spTree>
    <p:extLst>
      <p:ext uri="{BB962C8B-B14F-4D97-AF65-F5344CB8AC3E}">
        <p14:creationId xmlns:p14="http://schemas.microsoft.com/office/powerpoint/2010/main" val="373787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324544" y="116632"/>
            <a:ext cx="8494912" cy="6494085"/>
          </a:xfrm>
          <a:prstGeom prst="rect">
            <a:avLst/>
          </a:prstGeom>
        </p:spPr>
        <p:txBody>
          <a:bodyPr wrap="square">
            <a:spAutoFit/>
          </a:bodyPr>
          <a:lstStyle/>
          <a:p>
            <a:pPr algn="just"/>
            <a:r>
              <a:rPr lang="pt-BR" sz="3200" dirty="0">
                <a:solidFill>
                  <a:srgbClr val="FF0066"/>
                </a:solidFill>
              </a:rPr>
              <a:t>Uma árvore binária é uma estrutura de dados útil quando precisam ser tomadas decisões bidirecionais em cada ponto de um processo. Por exemplo, suponha que precisemos encontrar todas as repetições numa lista de números. Uma maneira de fazer isto é comparar cada número com todos que o precedem. Entretanto, isso envolve um grande número de comparações. O número de comparações pode ser reduzido usando-se uma árvore binária. O primeiro número na lista é colocado num nó estabelecido como a raiz de uma árvore binária com as </a:t>
            </a:r>
            <a:r>
              <a:rPr lang="pt-BR" sz="3200" dirty="0" err="1">
                <a:solidFill>
                  <a:srgbClr val="FF0066"/>
                </a:solidFill>
              </a:rPr>
              <a:t>sub-árvores</a:t>
            </a:r>
            <a:r>
              <a:rPr lang="pt-BR" sz="3200" dirty="0">
                <a:solidFill>
                  <a:srgbClr val="FF0066"/>
                </a:solidFill>
              </a:rPr>
              <a:t> esquerda e direita vazias.</a:t>
            </a:r>
          </a:p>
        </p:txBody>
      </p:sp>
    </p:spTree>
    <p:extLst>
      <p:ext uri="{BB962C8B-B14F-4D97-AF65-F5344CB8AC3E}">
        <p14:creationId xmlns:p14="http://schemas.microsoft.com/office/powerpoint/2010/main" val="243652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324544" y="908720"/>
            <a:ext cx="8494912" cy="5816977"/>
          </a:xfrm>
          <a:prstGeom prst="rect">
            <a:avLst/>
          </a:prstGeom>
        </p:spPr>
        <p:txBody>
          <a:bodyPr wrap="square">
            <a:spAutoFit/>
          </a:bodyPr>
          <a:lstStyle/>
          <a:p>
            <a:pPr algn="ctr"/>
            <a:r>
              <a:rPr lang="pt-BR" sz="3600" b="1" i="1" u="sng" dirty="0">
                <a:solidFill>
                  <a:srgbClr val="FF0000"/>
                </a:solidFill>
              </a:rPr>
              <a:t>Elementos</a:t>
            </a:r>
          </a:p>
          <a:p>
            <a:pPr algn="just"/>
            <a:endParaRPr lang="pt-BR" sz="2800" b="1" i="1" u="sng" dirty="0">
              <a:solidFill>
                <a:srgbClr val="FFFF00"/>
              </a:solidFill>
            </a:endParaRPr>
          </a:p>
          <a:p>
            <a:pPr algn="just"/>
            <a:endParaRPr lang="pt-BR" sz="2800" b="1" i="1" u="sng" dirty="0">
              <a:solidFill>
                <a:srgbClr val="FFFF00"/>
              </a:solidFill>
            </a:endParaRPr>
          </a:p>
          <a:p>
            <a:pPr algn="just"/>
            <a:r>
              <a:rPr lang="pt-BR" sz="2800" b="1" u="sng" dirty="0">
                <a:solidFill>
                  <a:srgbClr val="FF0000"/>
                </a:solidFill>
              </a:rPr>
              <a:t>Nós</a:t>
            </a:r>
            <a:r>
              <a:rPr lang="pt-BR" sz="2800" dirty="0">
                <a:solidFill>
                  <a:srgbClr val="FFFF00"/>
                </a:solidFill>
              </a:rPr>
              <a:t> - são todos os itens guardados na árvore</a:t>
            </a:r>
          </a:p>
          <a:p>
            <a:pPr algn="just"/>
            <a:r>
              <a:rPr lang="pt-BR" sz="2800" b="1" u="sng" dirty="0">
                <a:solidFill>
                  <a:srgbClr val="FF0000"/>
                </a:solidFill>
              </a:rPr>
              <a:t>Raiz</a:t>
            </a:r>
            <a:r>
              <a:rPr lang="pt-BR" sz="2800" dirty="0">
                <a:solidFill>
                  <a:srgbClr val="FFFF00"/>
                </a:solidFill>
              </a:rPr>
              <a:t> - é o nó do topo da árvore (no caso da figura acima, a raiz é o nó 8)</a:t>
            </a:r>
          </a:p>
          <a:p>
            <a:pPr algn="just"/>
            <a:r>
              <a:rPr lang="pt-BR" sz="2800" b="1" u="sng" dirty="0">
                <a:solidFill>
                  <a:srgbClr val="FF0000"/>
                </a:solidFill>
              </a:rPr>
              <a:t>Filhos</a:t>
            </a:r>
            <a:r>
              <a:rPr lang="pt-BR" sz="2800" dirty="0">
                <a:solidFill>
                  <a:srgbClr val="FFFF00"/>
                </a:solidFill>
              </a:rPr>
              <a:t> - são os nós que vem depois dos outros nós (no caso da figura acima, o nó 6 é filho do 3)</a:t>
            </a:r>
          </a:p>
          <a:p>
            <a:pPr algn="just"/>
            <a:r>
              <a:rPr lang="pt-BR" sz="2800" b="1" u="sng" dirty="0">
                <a:solidFill>
                  <a:srgbClr val="FF0000"/>
                </a:solidFill>
              </a:rPr>
              <a:t>Pais</a:t>
            </a:r>
            <a:r>
              <a:rPr lang="pt-BR" sz="2800" dirty="0">
                <a:solidFill>
                  <a:srgbClr val="FFFF00"/>
                </a:solidFill>
              </a:rPr>
              <a:t> - são os nós que vem antes dos outros nós (no caso da figura acima, o nó 10 é pai do 14)</a:t>
            </a:r>
          </a:p>
          <a:p>
            <a:pPr algn="just"/>
            <a:r>
              <a:rPr lang="pt-BR" sz="2800" b="1" u="sng" dirty="0">
                <a:solidFill>
                  <a:srgbClr val="FF0000"/>
                </a:solidFill>
              </a:rPr>
              <a:t>Folhas</a:t>
            </a:r>
            <a:r>
              <a:rPr lang="pt-BR" sz="2800" dirty="0">
                <a:solidFill>
                  <a:srgbClr val="FFFF00"/>
                </a:solidFill>
              </a:rPr>
              <a:t> - são os nós que não têm filhos; são os últimos nós da árvore (no caso da figura acima, as folhas são 1, 4, 7 e 13)</a:t>
            </a:r>
            <a:endParaRPr lang="pt-BR" dirty="0">
              <a:solidFill>
                <a:srgbClr val="FF0066"/>
              </a:solidFill>
            </a:endParaRPr>
          </a:p>
        </p:txBody>
      </p:sp>
      <p:pic>
        <p:nvPicPr>
          <p:cNvPr id="4" name="Picture 4">
            <a:extLst>
              <a:ext uri="{FF2B5EF4-FFF2-40B4-BE49-F238E27FC236}">
                <a16:creationId xmlns:a16="http://schemas.microsoft.com/office/drawing/2014/main" id="{829E946A-720F-7B53-8652-81BB522431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300192" y="188640"/>
            <a:ext cx="2578899" cy="2146935"/>
          </a:xfrm>
          <a:prstGeom prst="rect">
            <a:avLst/>
          </a:prstGeom>
          <a:solidFill>
            <a:schemeClr val="bg1"/>
          </a:solidFill>
        </p:spPr>
      </p:pic>
    </p:spTree>
    <p:extLst>
      <p:ext uri="{BB962C8B-B14F-4D97-AF65-F5344CB8AC3E}">
        <p14:creationId xmlns:p14="http://schemas.microsoft.com/office/powerpoint/2010/main" val="2859705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E08F7D14-7A8D-5899-B8E3-8F492351EC8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51720" y="116632"/>
            <a:ext cx="5040560" cy="4196268"/>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2683A347-D2B5-2DA1-2E0C-D762E412DD07}"/>
              </a:ext>
            </a:extLst>
          </p:cNvPr>
          <p:cNvSpPr/>
          <p:nvPr/>
        </p:nvSpPr>
        <p:spPr>
          <a:xfrm>
            <a:off x="324544" y="4473694"/>
            <a:ext cx="8494912" cy="2123658"/>
          </a:xfrm>
          <a:prstGeom prst="rect">
            <a:avLst/>
          </a:prstGeom>
        </p:spPr>
        <p:txBody>
          <a:bodyPr wrap="square">
            <a:spAutoFit/>
          </a:bodyPr>
          <a:lstStyle/>
          <a:p>
            <a:pPr algn="just"/>
            <a:r>
              <a:rPr lang="pt-BR" sz="4400" b="1" i="0" dirty="0">
                <a:solidFill>
                  <a:srgbClr val="202122"/>
                </a:solidFill>
                <a:effectLst/>
                <a:latin typeface="Arial" panose="020B0604020202020204" pitchFamily="34" charset="0"/>
              </a:rPr>
              <a:t>Árvore binária de busca com </a:t>
            </a:r>
            <a:r>
              <a:rPr lang="pt-BR" sz="4400" b="1" dirty="0">
                <a:solidFill>
                  <a:srgbClr val="202122"/>
                </a:solidFill>
                <a:latin typeface="Arial" panose="020B0604020202020204" pitchFamily="34" charset="0"/>
              </a:rPr>
              <a:t>a </a:t>
            </a:r>
            <a:r>
              <a:rPr lang="pt-BR" sz="4400" b="1" i="0" dirty="0">
                <a:solidFill>
                  <a:srgbClr val="202122"/>
                </a:solidFill>
                <a:effectLst/>
                <a:latin typeface="Arial" panose="020B0604020202020204" pitchFamily="34" charset="0"/>
              </a:rPr>
              <a:t>cardinalidade 9 e altura 4, com raiz 8 e folhas 1, 4, 7 e 13</a:t>
            </a:r>
          </a:p>
        </p:txBody>
      </p:sp>
    </p:spTree>
    <p:extLst>
      <p:ext uri="{BB962C8B-B14F-4D97-AF65-F5344CB8AC3E}">
        <p14:creationId xmlns:p14="http://schemas.microsoft.com/office/powerpoint/2010/main" val="1590075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324544" y="188640"/>
            <a:ext cx="8494912" cy="6617196"/>
          </a:xfrm>
          <a:prstGeom prst="rect">
            <a:avLst/>
          </a:prstGeom>
        </p:spPr>
        <p:txBody>
          <a:bodyPr wrap="square">
            <a:spAutoFit/>
          </a:bodyPr>
          <a:lstStyle/>
          <a:p>
            <a:pPr algn="just"/>
            <a:r>
              <a:rPr lang="pt-BR" sz="4000" dirty="0">
                <a:solidFill>
                  <a:srgbClr val="FFFF00"/>
                </a:solidFill>
              </a:rPr>
              <a:t>Busca</a:t>
            </a:r>
            <a:endParaRPr lang="pt-BR" sz="3600" dirty="0">
              <a:solidFill>
                <a:srgbClr val="FF0066"/>
              </a:solidFill>
            </a:endParaRPr>
          </a:p>
          <a:p>
            <a:pPr algn="just"/>
            <a:r>
              <a:rPr lang="pt-BR" sz="2400" dirty="0">
                <a:solidFill>
                  <a:srgbClr val="FF0066"/>
                </a:solidFill>
              </a:rPr>
              <a:t>A busca em uma árvore binária por um valor específico pode ser um processo recursivo ou iterativo. Será apresentado um método recursivo.</a:t>
            </a:r>
          </a:p>
          <a:p>
            <a:pPr algn="just"/>
            <a:endParaRPr lang="pt-BR" sz="2400" dirty="0">
              <a:solidFill>
                <a:srgbClr val="FF0066"/>
              </a:solidFill>
            </a:endParaRPr>
          </a:p>
          <a:p>
            <a:pPr algn="just"/>
            <a:endParaRPr lang="pt-BR" sz="2400" dirty="0">
              <a:solidFill>
                <a:srgbClr val="FF0066"/>
              </a:solidFill>
            </a:endParaRPr>
          </a:p>
          <a:p>
            <a:pPr algn="just"/>
            <a:endParaRPr lang="pt-BR" sz="2400" dirty="0">
              <a:solidFill>
                <a:srgbClr val="FF0066"/>
              </a:solidFill>
            </a:endParaRPr>
          </a:p>
          <a:p>
            <a:pPr algn="just"/>
            <a:endParaRPr lang="pt-BR" sz="2400" dirty="0">
              <a:solidFill>
                <a:srgbClr val="FF0066"/>
              </a:solidFill>
            </a:endParaRPr>
          </a:p>
          <a:p>
            <a:pPr algn="just"/>
            <a:r>
              <a:rPr lang="pt-BR" sz="2400" dirty="0">
                <a:solidFill>
                  <a:srgbClr val="FF0066"/>
                </a:solidFill>
              </a:rPr>
              <a:t>A busca começa examinando o nó raiz. Se a árvore está vazia, o valor procurado não pode existir na árvore. Caso contrário, se o valor é igual a raiz, a busca foi bem sucedida. Se o valor é menor do que a raiz, a busca segue pela </a:t>
            </a:r>
            <a:r>
              <a:rPr lang="pt-BR" sz="2400" dirty="0" err="1">
                <a:solidFill>
                  <a:srgbClr val="FF0066"/>
                </a:solidFill>
              </a:rPr>
              <a:t>subárvore</a:t>
            </a:r>
            <a:r>
              <a:rPr lang="pt-BR" sz="2400" dirty="0">
                <a:solidFill>
                  <a:srgbClr val="FF0066"/>
                </a:solidFill>
              </a:rPr>
              <a:t> esquerda. Similarmente, se o valor é maior do que a raiz, a busca segue pela </a:t>
            </a:r>
            <a:r>
              <a:rPr lang="pt-BR" sz="2400" dirty="0" err="1">
                <a:solidFill>
                  <a:srgbClr val="FF0066"/>
                </a:solidFill>
              </a:rPr>
              <a:t>subárvore</a:t>
            </a:r>
            <a:r>
              <a:rPr lang="pt-BR" sz="2400" dirty="0">
                <a:solidFill>
                  <a:srgbClr val="FF0066"/>
                </a:solidFill>
              </a:rPr>
              <a:t> direita. Esse processo é repetido até o valor ser encontrado ou a </a:t>
            </a:r>
            <a:r>
              <a:rPr lang="pt-BR" sz="2400" dirty="0" err="1">
                <a:solidFill>
                  <a:srgbClr val="FF0066"/>
                </a:solidFill>
              </a:rPr>
              <a:t>subárvore</a:t>
            </a:r>
            <a:r>
              <a:rPr lang="pt-BR" sz="2400" dirty="0">
                <a:solidFill>
                  <a:srgbClr val="FF0066"/>
                </a:solidFill>
              </a:rPr>
              <a:t> ser nula (vazia). Se o valor não for encontrado até a busca chegar na </a:t>
            </a:r>
            <a:r>
              <a:rPr lang="pt-BR" sz="2400" dirty="0" err="1">
                <a:solidFill>
                  <a:srgbClr val="FF0066"/>
                </a:solidFill>
              </a:rPr>
              <a:t>subárvore</a:t>
            </a:r>
            <a:r>
              <a:rPr lang="pt-BR" sz="2400" dirty="0">
                <a:solidFill>
                  <a:srgbClr val="FF0066"/>
                </a:solidFill>
              </a:rPr>
              <a:t> nula, então o valor não deve estar presente na árvore.</a:t>
            </a:r>
            <a:endParaRPr lang="pt-BR" sz="2000" dirty="0">
              <a:solidFill>
                <a:srgbClr val="FF0066"/>
              </a:solidFill>
            </a:endParaRPr>
          </a:p>
        </p:txBody>
      </p:sp>
      <p:pic>
        <p:nvPicPr>
          <p:cNvPr id="2050" name="Picture 2">
            <a:extLst>
              <a:ext uri="{FF2B5EF4-FFF2-40B4-BE49-F238E27FC236}">
                <a16:creationId xmlns:a16="http://schemas.microsoft.com/office/drawing/2014/main" id="{74FB6D1E-3FC6-CA68-E18D-CF3ACDFD1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0635" y="1717973"/>
            <a:ext cx="3502730" cy="1567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324544" y="188640"/>
            <a:ext cx="8494912" cy="5262979"/>
          </a:xfrm>
          <a:prstGeom prst="rect">
            <a:avLst/>
          </a:prstGeom>
        </p:spPr>
        <p:txBody>
          <a:bodyPr wrap="square">
            <a:spAutoFit/>
          </a:bodyPr>
          <a:lstStyle/>
          <a:p>
            <a:pPr algn="just"/>
            <a:r>
              <a:rPr lang="pt-BR" sz="2400" u="sng" dirty="0" err="1">
                <a:solidFill>
                  <a:srgbClr val="FFFF00"/>
                </a:solidFill>
              </a:rPr>
              <a:t>Pré</a:t>
            </a:r>
            <a:r>
              <a:rPr lang="pt-BR" sz="2400" u="sng" dirty="0">
                <a:solidFill>
                  <a:srgbClr val="FFFF00"/>
                </a:solidFill>
              </a:rPr>
              <a:t>-ordem ou Profundidade: (VLR)</a:t>
            </a:r>
          </a:p>
          <a:p>
            <a:pPr algn="just"/>
            <a:r>
              <a:rPr lang="pt-BR" sz="2400" dirty="0">
                <a:solidFill>
                  <a:srgbClr val="FF0066"/>
                </a:solidFill>
              </a:rPr>
              <a:t>Visita a raiz</a:t>
            </a:r>
          </a:p>
          <a:p>
            <a:pPr algn="just"/>
            <a:r>
              <a:rPr lang="pt-BR" sz="2400" dirty="0">
                <a:solidFill>
                  <a:srgbClr val="FF0066"/>
                </a:solidFill>
              </a:rPr>
              <a:t>Percorre a </a:t>
            </a:r>
            <a:r>
              <a:rPr lang="pt-BR" sz="2400" dirty="0" err="1">
                <a:solidFill>
                  <a:srgbClr val="FF0066"/>
                </a:solidFill>
              </a:rPr>
              <a:t>sub-árvore</a:t>
            </a:r>
            <a:r>
              <a:rPr lang="pt-BR" sz="2400" dirty="0">
                <a:solidFill>
                  <a:srgbClr val="FF0066"/>
                </a:solidFill>
              </a:rPr>
              <a:t> esquerda em </a:t>
            </a:r>
            <a:r>
              <a:rPr lang="pt-BR" sz="2400" dirty="0" err="1">
                <a:solidFill>
                  <a:srgbClr val="FF0066"/>
                </a:solidFill>
              </a:rPr>
              <a:t>pré</a:t>
            </a:r>
            <a:r>
              <a:rPr lang="pt-BR" sz="2400" dirty="0">
                <a:solidFill>
                  <a:srgbClr val="FF0066"/>
                </a:solidFill>
              </a:rPr>
              <a:t>-ordem</a:t>
            </a:r>
          </a:p>
          <a:p>
            <a:pPr algn="just"/>
            <a:r>
              <a:rPr lang="pt-BR" sz="2400" dirty="0">
                <a:solidFill>
                  <a:srgbClr val="FF0066"/>
                </a:solidFill>
              </a:rPr>
              <a:t>Percorre a </a:t>
            </a:r>
            <a:r>
              <a:rPr lang="pt-BR" sz="2400" dirty="0" err="1">
                <a:solidFill>
                  <a:srgbClr val="FF0066"/>
                </a:solidFill>
              </a:rPr>
              <a:t>sub-árvore</a:t>
            </a:r>
            <a:r>
              <a:rPr lang="pt-BR" sz="2400" dirty="0">
                <a:solidFill>
                  <a:srgbClr val="FF0066"/>
                </a:solidFill>
              </a:rPr>
              <a:t> direita em </a:t>
            </a:r>
            <a:r>
              <a:rPr lang="pt-BR" sz="2400" dirty="0" err="1">
                <a:solidFill>
                  <a:srgbClr val="FF0066"/>
                </a:solidFill>
              </a:rPr>
              <a:t>pré</a:t>
            </a:r>
            <a:r>
              <a:rPr lang="pt-BR" sz="2400" dirty="0">
                <a:solidFill>
                  <a:srgbClr val="FF0066"/>
                </a:solidFill>
              </a:rPr>
              <a:t>-ordem</a:t>
            </a:r>
          </a:p>
          <a:p>
            <a:pPr algn="just"/>
            <a:endParaRPr lang="pt-BR" sz="2400" dirty="0">
              <a:solidFill>
                <a:srgbClr val="FF0066"/>
              </a:solidFill>
            </a:endParaRPr>
          </a:p>
          <a:p>
            <a:pPr algn="just"/>
            <a:r>
              <a:rPr lang="pt-BR" sz="2400" u="sng" dirty="0" err="1">
                <a:solidFill>
                  <a:srgbClr val="FFFF00"/>
                </a:solidFill>
              </a:rPr>
              <a:t>In-ordem</a:t>
            </a:r>
            <a:r>
              <a:rPr lang="pt-BR" sz="2400" u="sng" dirty="0">
                <a:solidFill>
                  <a:srgbClr val="FFFF00"/>
                </a:solidFill>
              </a:rPr>
              <a:t> ou Ordem Simétrica: (LVR)</a:t>
            </a:r>
          </a:p>
          <a:p>
            <a:pPr algn="just"/>
            <a:r>
              <a:rPr lang="pt-BR" sz="2400" dirty="0">
                <a:solidFill>
                  <a:srgbClr val="FF0066"/>
                </a:solidFill>
              </a:rPr>
              <a:t>Percorre a </a:t>
            </a:r>
            <a:r>
              <a:rPr lang="pt-BR" sz="2400" dirty="0" err="1">
                <a:solidFill>
                  <a:srgbClr val="FF0066"/>
                </a:solidFill>
              </a:rPr>
              <a:t>sub-árvore</a:t>
            </a:r>
            <a:r>
              <a:rPr lang="pt-BR" sz="2400" dirty="0">
                <a:solidFill>
                  <a:srgbClr val="FF0066"/>
                </a:solidFill>
              </a:rPr>
              <a:t> esquerda em ordem simétrica</a:t>
            </a:r>
          </a:p>
          <a:p>
            <a:pPr algn="just"/>
            <a:r>
              <a:rPr lang="pt-BR" sz="2400" dirty="0">
                <a:solidFill>
                  <a:srgbClr val="FF0066"/>
                </a:solidFill>
              </a:rPr>
              <a:t>Visita a raiz</a:t>
            </a:r>
          </a:p>
          <a:p>
            <a:pPr algn="just"/>
            <a:r>
              <a:rPr lang="pt-BR" sz="2400" dirty="0">
                <a:solidFill>
                  <a:srgbClr val="FF0066"/>
                </a:solidFill>
              </a:rPr>
              <a:t>Percorre a </a:t>
            </a:r>
            <a:r>
              <a:rPr lang="pt-BR" sz="2400" dirty="0" err="1">
                <a:solidFill>
                  <a:srgbClr val="FF0066"/>
                </a:solidFill>
              </a:rPr>
              <a:t>sub-árvore</a:t>
            </a:r>
            <a:r>
              <a:rPr lang="pt-BR" sz="2400" dirty="0">
                <a:solidFill>
                  <a:srgbClr val="FF0066"/>
                </a:solidFill>
              </a:rPr>
              <a:t> direita em ordem simétrica</a:t>
            </a:r>
          </a:p>
          <a:p>
            <a:pPr algn="just"/>
            <a:endParaRPr lang="pt-BR" sz="2400" dirty="0">
              <a:solidFill>
                <a:srgbClr val="FF0066"/>
              </a:solidFill>
            </a:endParaRPr>
          </a:p>
          <a:p>
            <a:pPr algn="just"/>
            <a:r>
              <a:rPr lang="pt-BR" sz="2400" u="sng" dirty="0">
                <a:solidFill>
                  <a:srgbClr val="FFFF00"/>
                </a:solidFill>
              </a:rPr>
              <a:t>Pós-ordem: (LRV)</a:t>
            </a:r>
          </a:p>
          <a:p>
            <a:pPr algn="just"/>
            <a:r>
              <a:rPr lang="pt-BR" sz="2400" dirty="0">
                <a:solidFill>
                  <a:srgbClr val="FF0066"/>
                </a:solidFill>
              </a:rPr>
              <a:t>Percorre a </a:t>
            </a:r>
            <a:r>
              <a:rPr lang="pt-BR" sz="2400" dirty="0" err="1">
                <a:solidFill>
                  <a:srgbClr val="FF0066"/>
                </a:solidFill>
              </a:rPr>
              <a:t>sub-árvore</a:t>
            </a:r>
            <a:r>
              <a:rPr lang="pt-BR" sz="2400" dirty="0">
                <a:solidFill>
                  <a:srgbClr val="FF0066"/>
                </a:solidFill>
              </a:rPr>
              <a:t> esquerda em pós-ordem</a:t>
            </a:r>
          </a:p>
          <a:p>
            <a:pPr algn="just"/>
            <a:r>
              <a:rPr lang="pt-BR" sz="2400" dirty="0">
                <a:solidFill>
                  <a:srgbClr val="FF0066"/>
                </a:solidFill>
              </a:rPr>
              <a:t>Percorre a </a:t>
            </a:r>
            <a:r>
              <a:rPr lang="pt-BR" sz="2400" dirty="0" err="1">
                <a:solidFill>
                  <a:srgbClr val="FF0066"/>
                </a:solidFill>
              </a:rPr>
              <a:t>sub-árvore</a:t>
            </a:r>
            <a:r>
              <a:rPr lang="pt-BR" sz="2400" dirty="0">
                <a:solidFill>
                  <a:srgbClr val="FF0066"/>
                </a:solidFill>
              </a:rPr>
              <a:t> direita em pós-ordem</a:t>
            </a:r>
          </a:p>
          <a:p>
            <a:pPr algn="just"/>
            <a:r>
              <a:rPr lang="pt-BR" sz="2400" dirty="0">
                <a:solidFill>
                  <a:srgbClr val="FF0066"/>
                </a:solidFill>
              </a:rPr>
              <a:t>Visita a raiz</a:t>
            </a:r>
          </a:p>
        </p:txBody>
      </p:sp>
      <p:pic>
        <p:nvPicPr>
          <p:cNvPr id="4098" name="Picture 2">
            <a:extLst>
              <a:ext uri="{FF2B5EF4-FFF2-40B4-BE49-F238E27FC236}">
                <a16:creationId xmlns:a16="http://schemas.microsoft.com/office/drawing/2014/main" id="{B44E2F2E-9F31-3C68-C621-51791F736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5429" y="4005064"/>
            <a:ext cx="2384319" cy="1983320"/>
          </a:xfrm>
          <a:prstGeom prst="rect">
            <a:avLst/>
          </a:prstGeom>
          <a:solidFill>
            <a:schemeClr val="bg1"/>
          </a:solidFill>
        </p:spPr>
      </p:pic>
      <p:sp>
        <p:nvSpPr>
          <p:cNvPr id="5" name="CaixaDeTexto 4">
            <a:extLst>
              <a:ext uri="{FF2B5EF4-FFF2-40B4-BE49-F238E27FC236}">
                <a16:creationId xmlns:a16="http://schemas.microsoft.com/office/drawing/2014/main" id="{9B5F09B4-1F63-A51F-BDBB-0F6D2BB421FC}"/>
              </a:ext>
            </a:extLst>
          </p:cNvPr>
          <p:cNvSpPr txBox="1"/>
          <p:nvPr/>
        </p:nvSpPr>
        <p:spPr>
          <a:xfrm>
            <a:off x="334468" y="5820951"/>
            <a:ext cx="6948264" cy="923330"/>
          </a:xfrm>
          <a:prstGeom prst="rect">
            <a:avLst/>
          </a:prstGeom>
          <a:noFill/>
        </p:spPr>
        <p:txBody>
          <a:bodyPr wrap="square">
            <a:spAutoFit/>
          </a:bodyPr>
          <a:lstStyle/>
          <a:p>
            <a:pPr algn="l"/>
            <a:r>
              <a:rPr lang="pt-BR" b="0" i="0" dirty="0" err="1">
                <a:solidFill>
                  <a:srgbClr val="FFFF00"/>
                </a:solidFill>
                <a:effectLst/>
                <a:latin typeface="Arial" panose="020B0604020202020204" pitchFamily="34" charset="0"/>
              </a:rPr>
              <a:t>Pré</a:t>
            </a:r>
            <a:r>
              <a:rPr lang="pt-BR" b="0" i="0" dirty="0">
                <a:solidFill>
                  <a:srgbClr val="FFFF00"/>
                </a:solidFill>
                <a:effectLst/>
                <a:latin typeface="Arial" panose="020B0604020202020204" pitchFamily="34" charset="0"/>
              </a:rPr>
              <a:t>-ordem =&gt; 8, 3, 1, 6, 4, 7, 10, 14, 13</a:t>
            </a:r>
          </a:p>
          <a:p>
            <a:pPr algn="l"/>
            <a:r>
              <a:rPr lang="pt-BR" b="0" i="0" dirty="0">
                <a:solidFill>
                  <a:srgbClr val="FFFF00"/>
                </a:solidFill>
                <a:effectLst/>
                <a:latin typeface="Arial" panose="020B0604020202020204" pitchFamily="34" charset="0"/>
              </a:rPr>
              <a:t>Ordem simétrica =&gt; 1, 3, 4, 6, 7, 8, 10, 13, 14 (chaves ordenadas)</a:t>
            </a:r>
          </a:p>
          <a:p>
            <a:pPr algn="l"/>
            <a:r>
              <a:rPr lang="pt-BR" b="0" i="0" dirty="0">
                <a:solidFill>
                  <a:srgbClr val="FFFF00"/>
                </a:solidFill>
                <a:effectLst/>
                <a:latin typeface="Arial" panose="020B0604020202020204" pitchFamily="34" charset="0"/>
              </a:rPr>
              <a:t>Pós-ordem =&gt; 1, 4, 7, 6, 3, 13, 14, 10, 8</a:t>
            </a:r>
            <a:endParaRPr lang="pt-BR" dirty="0">
              <a:solidFill>
                <a:srgbClr val="FFFF00"/>
              </a:solidFill>
            </a:endParaRPr>
          </a:p>
        </p:txBody>
      </p:sp>
    </p:spTree>
    <p:extLst>
      <p:ext uri="{BB962C8B-B14F-4D97-AF65-F5344CB8AC3E}">
        <p14:creationId xmlns:p14="http://schemas.microsoft.com/office/powerpoint/2010/main" val="1256202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DE5B-3FF5-084A-31DA-126DBB331018}"/>
            </a:ext>
          </a:extLst>
        </p:cNvPr>
        <p:cNvGrpSpPr/>
        <p:nvPr/>
      </p:nvGrpSpPr>
      <p:grpSpPr>
        <a:xfrm>
          <a:off x="0" y="0"/>
          <a:ext cx="0" cy="0"/>
          <a:chOff x="0" y="0"/>
          <a:chExt cx="0" cy="0"/>
        </a:xfrm>
      </p:grpSpPr>
      <p:sp>
        <p:nvSpPr>
          <p:cNvPr id="3" name="Retângulo 2">
            <a:extLst>
              <a:ext uri="{FF2B5EF4-FFF2-40B4-BE49-F238E27FC236}">
                <a16:creationId xmlns:a16="http://schemas.microsoft.com/office/drawing/2014/main" id="{0C6A3C63-31B8-D8E5-085F-46F253550502}"/>
              </a:ext>
            </a:extLst>
          </p:cNvPr>
          <p:cNvSpPr/>
          <p:nvPr/>
        </p:nvSpPr>
        <p:spPr>
          <a:xfrm>
            <a:off x="-252536" y="188640"/>
            <a:ext cx="9217024" cy="6555641"/>
          </a:xfrm>
          <a:prstGeom prst="rect">
            <a:avLst/>
          </a:prstGeom>
        </p:spPr>
        <p:txBody>
          <a:bodyPr wrap="square">
            <a:spAutoFit/>
          </a:bodyPr>
          <a:lstStyle/>
          <a:p>
            <a:pPr lvl="1" algn="just"/>
            <a:r>
              <a:rPr lang="pt-BR" sz="2100" dirty="0" err="1">
                <a:solidFill>
                  <a:srgbClr val="FFFF00"/>
                </a:solidFill>
              </a:rPr>
              <a:t>Pré</a:t>
            </a:r>
            <a:r>
              <a:rPr lang="pt-BR" sz="2100" dirty="0">
                <a:solidFill>
                  <a:srgbClr val="FFFF00"/>
                </a:solidFill>
              </a:rPr>
              <a:t>-ordem:</a:t>
            </a:r>
          </a:p>
          <a:p>
            <a:pPr lvl="1" algn="just"/>
            <a:r>
              <a:rPr lang="pt-BR" sz="2100" u="sng" dirty="0">
                <a:solidFill>
                  <a:srgbClr val="00B050"/>
                </a:solidFill>
              </a:rPr>
              <a:t>Aplicativo de Navegação de Arquivos</a:t>
            </a:r>
            <a:r>
              <a:rPr lang="pt-BR" sz="2100" dirty="0">
                <a:solidFill>
                  <a:srgbClr val="00B050"/>
                </a:solidFill>
              </a:rPr>
              <a:t>:</a:t>
            </a:r>
            <a:r>
              <a:rPr lang="pt-BR" sz="2100" dirty="0">
                <a:solidFill>
                  <a:srgbClr val="FF0066"/>
                </a:solidFill>
              </a:rPr>
              <a:t> Quando você deseja mostrar a estrutura de diretórios de forma hierárquica, visitando primeiro a pasta raiz e, em seguida, listando seus subdiretórios antes de explorar os subdiretórios mais profundamente. Essa abordagem permite a visualização de toda a árvore de diretórios de forma que a raiz seja mostrada antes de seus conteúdos.</a:t>
            </a:r>
          </a:p>
          <a:p>
            <a:pPr lvl="1" algn="just"/>
            <a:endParaRPr lang="pt-BR" sz="2100" dirty="0">
              <a:solidFill>
                <a:srgbClr val="FF0066"/>
              </a:solidFill>
            </a:endParaRPr>
          </a:p>
          <a:p>
            <a:pPr lvl="1" algn="just"/>
            <a:r>
              <a:rPr lang="pt-BR" sz="2100" dirty="0" err="1">
                <a:solidFill>
                  <a:srgbClr val="FFFF00"/>
                </a:solidFill>
              </a:rPr>
              <a:t>In-ordem</a:t>
            </a:r>
            <a:r>
              <a:rPr lang="pt-BR" sz="2100" dirty="0">
                <a:solidFill>
                  <a:srgbClr val="FFFF00"/>
                </a:solidFill>
              </a:rPr>
              <a:t> (Ordem simétrica):</a:t>
            </a:r>
          </a:p>
          <a:p>
            <a:pPr lvl="1" algn="just"/>
            <a:r>
              <a:rPr lang="pt-BR" sz="2100" u="sng" dirty="0">
                <a:solidFill>
                  <a:srgbClr val="00B050"/>
                </a:solidFill>
              </a:rPr>
              <a:t>Software de Banco de Dados</a:t>
            </a:r>
            <a:r>
              <a:rPr lang="pt-BR" sz="2100" dirty="0">
                <a:solidFill>
                  <a:srgbClr val="00B050"/>
                </a:solidFill>
              </a:rPr>
              <a:t>:</a:t>
            </a:r>
            <a:r>
              <a:rPr lang="pt-BR" sz="2100" dirty="0">
                <a:solidFill>
                  <a:srgbClr val="FF0066"/>
                </a:solidFill>
              </a:rPr>
              <a:t> Quando você deseja listar registros em uma ordem crescente com base em uma chave (por exemplo, listagem de produtos ordenados pelo preço). Uma árvore binária de busca pode ser usada internamente para garantir que os elementos sejam apresentados em ordem crescente.</a:t>
            </a:r>
          </a:p>
          <a:p>
            <a:pPr lvl="1" algn="just"/>
            <a:endParaRPr lang="pt-BR" sz="2100" dirty="0">
              <a:solidFill>
                <a:srgbClr val="FF0066"/>
              </a:solidFill>
            </a:endParaRPr>
          </a:p>
          <a:p>
            <a:pPr lvl="1" algn="just"/>
            <a:r>
              <a:rPr lang="pt-BR" sz="2100" dirty="0">
                <a:solidFill>
                  <a:srgbClr val="FFFF00"/>
                </a:solidFill>
              </a:rPr>
              <a:t>Pós-ordem:</a:t>
            </a:r>
          </a:p>
          <a:p>
            <a:pPr lvl="1" algn="just"/>
            <a:r>
              <a:rPr lang="pt-BR" sz="2100" u="sng" dirty="0">
                <a:solidFill>
                  <a:srgbClr val="00B050"/>
                </a:solidFill>
              </a:rPr>
              <a:t>Software de Backup e Restauração</a:t>
            </a:r>
            <a:r>
              <a:rPr lang="pt-BR" sz="2100" dirty="0">
                <a:solidFill>
                  <a:srgbClr val="00B050"/>
                </a:solidFill>
              </a:rPr>
              <a:t>:</a:t>
            </a:r>
            <a:r>
              <a:rPr lang="pt-BR" sz="2100" dirty="0">
                <a:solidFill>
                  <a:srgbClr val="FF0066"/>
                </a:solidFill>
              </a:rPr>
              <a:t> Se um sistema precisar fazer backup de arquivos e pastas, ele pode usar a travessia pós-ordem para garantir que todos os subdiretórios e arquivos sejam copiados antes da própria pasta pai. Isso garante que, ao restaurar, a estrutura da pasta possa ser reconstruída corretamente, de baixo para cima.</a:t>
            </a:r>
          </a:p>
        </p:txBody>
      </p:sp>
    </p:spTree>
    <p:extLst>
      <p:ext uri="{BB962C8B-B14F-4D97-AF65-F5344CB8AC3E}">
        <p14:creationId xmlns:p14="http://schemas.microsoft.com/office/powerpoint/2010/main" val="334116661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577</TotalTime>
  <Words>802</Words>
  <Application>Microsoft Office PowerPoint</Application>
  <PresentationFormat>Apresentação na tela (4:3)</PresentationFormat>
  <Paragraphs>49</Paragraphs>
  <Slides>8</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8</vt:i4>
      </vt:variant>
    </vt:vector>
  </HeadingPairs>
  <TitlesOfParts>
    <vt:vector size="13" baseType="lpstr">
      <vt:lpstr>Arial</vt:lpstr>
      <vt:lpstr>Calibri</vt:lpstr>
      <vt:lpstr>Dreaming Outloud Script Pro</vt:lpstr>
      <vt:lpstr>Impact</vt:lpstr>
      <vt:lpstr>Tema do Office</vt:lpstr>
      <vt:lpstr>“ÁRVORE BINÁRIA DE BUSCA”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JavaScritp</dc:title>
  <dc:creator>Alexandre Gomes</dc:creator>
  <cp:lastModifiedBy>ALEXANDRE GOMES DA SILVA</cp:lastModifiedBy>
  <cp:revision>57</cp:revision>
  <dcterms:created xsi:type="dcterms:W3CDTF">2020-01-22T14:41:03Z</dcterms:created>
  <dcterms:modified xsi:type="dcterms:W3CDTF">2026-02-07T22:07:43Z</dcterms:modified>
</cp:coreProperties>
</file>