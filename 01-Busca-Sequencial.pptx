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86" r:id="rId3"/>
    <p:sldId id="287" r:id="rId4"/>
    <p:sldId id="288" r:id="rId5"/>
    <p:sldId id="291" r:id="rId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E11F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3238" autoAdjust="0"/>
  </p:normalViewPr>
  <p:slideViewPr>
    <p:cSldViewPr>
      <p:cViewPr varScale="1">
        <p:scale>
          <a:sx n="73" d="100"/>
          <a:sy n="73" d="100"/>
        </p:scale>
        <p:origin x="1661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3982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805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4839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8009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7007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7745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0243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3655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9709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611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8387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1563A-35C7-49EE-9FEB-8EB53781E0B1}" type="datetimeFigureOut">
              <a:rPr lang="pt-BR" smtClean="0"/>
              <a:t>07/02/2026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D665B-AE82-421C-9889-B36DA14A18A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3507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C793E54F-88E8-16E3-AA0D-CA57A2948CC9}"/>
              </a:ext>
            </a:extLst>
          </p:cNvPr>
          <p:cNvGrpSpPr/>
          <p:nvPr/>
        </p:nvGrpSpPr>
        <p:grpSpPr>
          <a:xfrm>
            <a:off x="3528742" y="1011208"/>
            <a:ext cx="5507754" cy="4013036"/>
            <a:chOff x="3528742" y="1038240"/>
            <a:chExt cx="5507754" cy="4013036"/>
          </a:xfrm>
        </p:grpSpPr>
        <p:pic>
          <p:nvPicPr>
            <p:cNvPr id="1026" name="Picture 2" descr="Resultado de imagem para JS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808" t="10773" r="19724" b="10902"/>
            <a:stretch/>
          </p:blipFill>
          <p:spPr bwMode="auto">
            <a:xfrm>
              <a:off x="3528742" y="1038240"/>
              <a:ext cx="5507754" cy="40130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 descr="Resultado de imagem para JS">
              <a:extLst>
                <a:ext uri="{FF2B5EF4-FFF2-40B4-BE49-F238E27FC236}">
                  <a16:creationId xmlns:a16="http://schemas.microsoft.com/office/drawing/2014/main" id="{AE6353BD-0D9E-22B7-E114-31FF25F9C44C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359489" y="305843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Resultado de imagem para JS">
              <a:extLst>
                <a:ext uri="{FF2B5EF4-FFF2-40B4-BE49-F238E27FC236}">
                  <a16:creationId xmlns:a16="http://schemas.microsoft.com/office/drawing/2014/main" id="{54641B3D-597E-C89B-D0C1-01DBB3BBC52B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133133" y="2833662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Resultado de imagem para JS">
              <a:extLst>
                <a:ext uri="{FF2B5EF4-FFF2-40B4-BE49-F238E27FC236}">
                  <a16:creationId xmlns:a16="http://schemas.microsoft.com/office/drawing/2014/main" id="{4818BC0B-525A-7E91-FBA6-B396B9AE2A7F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297" t="45124" r="41422" b="38398"/>
            <a:stretch>
              <a:fillRect/>
            </a:stretch>
          </p:blipFill>
          <p:spPr bwMode="auto">
            <a:xfrm rot="2875517">
              <a:off x="7085980" y="3353357"/>
              <a:ext cx="413298" cy="610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5229200"/>
            <a:ext cx="9144000" cy="1628800"/>
          </a:xfrm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pt-BR" sz="6600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“</a:t>
            </a:r>
            <a:r>
              <a:rPr lang="pt-BR" sz="6600" dirty="0">
                <a:latin typeface="Impact" panose="020B0806030902050204" pitchFamily="34" charset="0"/>
                <a:cs typeface="Arial" pitchFamily="34" charset="0"/>
              </a:rPr>
              <a:t>BUSCA SEQUENCIAL</a:t>
            </a:r>
            <a:r>
              <a:rPr lang="pt-BR" sz="6600" dirty="0">
                <a:solidFill>
                  <a:srgbClr val="7030A0"/>
                </a:solidFill>
                <a:latin typeface="Impact" panose="020B0806030902050204" pitchFamily="34" charset="0"/>
                <a:cs typeface="Arial" pitchFamily="34" charset="0"/>
              </a:rPr>
              <a:t>”</a:t>
            </a:r>
            <a:endParaRPr lang="pt-BR" sz="4000" b="1" dirty="0">
              <a:solidFill>
                <a:srgbClr val="7030A0"/>
              </a:solidFill>
              <a:latin typeface="Impact" panose="020B0806030902050204" pitchFamily="34" charset="0"/>
              <a:cs typeface="Arial" pitchFamily="34" charset="0"/>
            </a:endParaRPr>
          </a:p>
        </p:txBody>
      </p:sp>
      <p:sp useBgFill="1">
        <p:nvSpPr>
          <p:cNvPr id="7" name="CaixaDeTexto 6"/>
          <p:cNvSpPr txBox="1"/>
          <p:nvPr/>
        </p:nvSpPr>
        <p:spPr>
          <a:xfrm>
            <a:off x="35496" y="3302056"/>
            <a:ext cx="3811040" cy="107721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Prof.º</a:t>
            </a:r>
          </a:p>
          <a:p>
            <a:pPr algn="r"/>
            <a:r>
              <a:rPr lang="pt-BR" sz="3200" dirty="0">
                <a:solidFill>
                  <a:srgbClr val="E11F3B"/>
                </a:solidFill>
                <a:latin typeface="Dreaming Outloud Script Pro" panose="03050502040304050704" pitchFamily="66" charset="0"/>
                <a:cs typeface="Dreaming Outloud Script Pro" panose="03050502040304050704" pitchFamily="66" charset="0"/>
              </a:rPr>
              <a:t>Alexandre Gomes</a:t>
            </a:r>
          </a:p>
        </p:txBody>
      </p:sp>
      <p:sp>
        <p:nvSpPr>
          <p:cNvPr id="3" name="Retângulo 2"/>
          <p:cNvSpPr/>
          <p:nvPr/>
        </p:nvSpPr>
        <p:spPr>
          <a:xfrm>
            <a:off x="189672" y="4232156"/>
            <a:ext cx="38884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rgbClr val="00B0F0"/>
                </a:solidFill>
              </a:rPr>
              <a:t>alexandre.</a:t>
            </a:r>
            <a:r>
              <a:rPr lang="pt-BR" sz="2000" dirty="0">
                <a:solidFill>
                  <a:srgbClr val="FFFF00"/>
                </a:solidFill>
              </a:rPr>
              <a:t>silva</a:t>
            </a:r>
            <a:r>
              <a:rPr lang="pt-BR" sz="2000" dirty="0">
                <a:solidFill>
                  <a:srgbClr val="00B050"/>
                </a:solidFill>
              </a:rPr>
              <a:t>251</a:t>
            </a:r>
            <a:r>
              <a:rPr lang="pt-BR" sz="2000" dirty="0">
                <a:solidFill>
                  <a:srgbClr val="7030A0"/>
                </a:solidFill>
              </a:rPr>
              <a:t>@fatec.</a:t>
            </a:r>
            <a:r>
              <a:rPr lang="pt-BR" sz="2000" dirty="0">
                <a:solidFill>
                  <a:schemeClr val="bg1"/>
                </a:solidFill>
              </a:rPr>
              <a:t>sp.</a:t>
            </a:r>
            <a:r>
              <a:rPr lang="pt-BR" sz="2000" dirty="0">
                <a:solidFill>
                  <a:schemeClr val="accent6">
                    <a:lumMod val="75000"/>
                  </a:schemeClr>
                </a:solidFill>
              </a:rPr>
              <a:t>gov.</a:t>
            </a:r>
            <a:r>
              <a:rPr lang="pt-BR" sz="2000" dirty="0">
                <a:solidFill>
                  <a:srgbClr val="FF0066"/>
                </a:solidFill>
              </a:rPr>
              <a:t>br</a:t>
            </a:r>
          </a:p>
        </p:txBody>
      </p:sp>
      <p:pic>
        <p:nvPicPr>
          <p:cNvPr id="4" name="Picture 2" descr="Java (programming language) - Wikipedia">
            <a:extLst>
              <a:ext uri="{FF2B5EF4-FFF2-40B4-BE49-F238E27FC236}">
                <a16:creationId xmlns:a16="http://schemas.microsoft.com/office/drawing/2014/main" id="{B58762D3-4FA3-88CD-AEF6-E8F4E8AD1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939" y="1163042"/>
            <a:ext cx="960888" cy="1761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Using Cordova with Apache NetBeans | Andres Zsogon">
            <a:extLst>
              <a:ext uri="{FF2B5EF4-FFF2-40B4-BE49-F238E27FC236}">
                <a16:creationId xmlns:a16="http://schemas.microsoft.com/office/drawing/2014/main" id="{7C5D3942-F637-1A16-B327-C695A61FE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394" y="342613"/>
            <a:ext cx="3035980" cy="94874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srgbClr val="FFFF00"/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Ícones, Logotipos, Símbolos de Java – Baixe gratuitamente em PNG, SVG">
            <a:extLst>
              <a:ext uri="{FF2B5EF4-FFF2-40B4-BE49-F238E27FC236}">
                <a16:creationId xmlns:a16="http://schemas.microsoft.com/office/drawing/2014/main" id="{9207BAD6-AB33-0C8A-2137-7DB694BC7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017503">
            <a:off x="6312503" y="2467666"/>
            <a:ext cx="1453079" cy="1453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m 18" descr="Texto, Logotipo&#10;&#10;O conteúdo gerado por IA pode estar incorreto.">
            <a:extLst>
              <a:ext uri="{FF2B5EF4-FFF2-40B4-BE49-F238E27FC236}">
                <a16:creationId xmlns:a16="http://schemas.microsoft.com/office/drawing/2014/main" id="{FD5247E8-68CC-43A6-DA12-BEB3EED223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114" y="4557915"/>
            <a:ext cx="2093870" cy="65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07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4544" y="188640"/>
            <a:ext cx="8494912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000" dirty="0">
                <a:solidFill>
                  <a:srgbClr val="FFFF00"/>
                </a:solidFill>
              </a:rPr>
              <a:t>ALGORITMO DE BUSCA SEQUENCIAL</a:t>
            </a:r>
          </a:p>
          <a:p>
            <a:pPr algn="just"/>
            <a:endParaRPr lang="pt-BR" sz="3600" dirty="0">
              <a:solidFill>
                <a:srgbClr val="FF0066"/>
              </a:solidFill>
            </a:endParaRP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	Percorre o vetor, verificando se cada um dos elementos corresponde ao valor de busca. Ao encontrar uma correspondência, retorna a posição onde o valor de busca está no vetor.</a:t>
            </a:r>
          </a:p>
          <a:p>
            <a:pPr algn="just"/>
            <a:r>
              <a:rPr lang="pt-BR" sz="3600" dirty="0">
                <a:solidFill>
                  <a:srgbClr val="FF0066"/>
                </a:solidFill>
              </a:rPr>
              <a:t>	Caso o valor de busca não exista no vetor, retorna o valor convencional -1.</a:t>
            </a:r>
            <a:endParaRPr lang="pt-BR" sz="3200" dirty="0">
              <a:solidFill>
                <a:srgbClr val="FF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1348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F8D964C7-8559-4408-8659-3562307CA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44" y="836711"/>
            <a:ext cx="8256112" cy="5184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507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lgoritmos e Estruturas de Dados">
            <a:extLst>
              <a:ext uri="{FF2B5EF4-FFF2-40B4-BE49-F238E27FC236}">
                <a16:creationId xmlns:a16="http://schemas.microsoft.com/office/drawing/2014/main" id="{E5241DC4-C1CA-66CE-6BE4-91BE107AB7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500"/>
          <a:stretch/>
        </p:blipFill>
        <p:spPr bwMode="auto">
          <a:xfrm>
            <a:off x="251520" y="1700808"/>
            <a:ext cx="8640960" cy="302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3620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324544" y="188640"/>
            <a:ext cx="849491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4000" dirty="0">
                <a:solidFill>
                  <a:srgbClr val="FFFF00"/>
                </a:solidFill>
              </a:rPr>
              <a:t>ALGORITMO DE BUSCA SEQUENCIAL EM UM VETOR DE OBJETOS</a:t>
            </a:r>
          </a:p>
          <a:p>
            <a:pPr algn="just"/>
            <a:endParaRPr lang="pt-BR" sz="2800" dirty="0">
              <a:solidFill>
                <a:srgbClr val="FF0066"/>
              </a:solidFill>
            </a:endParaRPr>
          </a:p>
          <a:p>
            <a:pPr algn="just"/>
            <a:r>
              <a:rPr lang="pt-BR" sz="2800" dirty="0">
                <a:solidFill>
                  <a:srgbClr val="FF0066"/>
                </a:solidFill>
              </a:rPr>
              <a:t>Quando um algoritmo de busca precisa atuar sobre um vetor de objetos, a comparação não deve ser feita dentro da função que implementa o algoritmo. Em vez disso, recebemos uma outra função (externa) como parâmetro que resolverá a comparação.</a:t>
            </a:r>
          </a:p>
          <a:p>
            <a:pPr algn="just"/>
            <a:r>
              <a:rPr lang="pt-BR" sz="2800" dirty="0">
                <a:solidFill>
                  <a:srgbClr val="FF0066"/>
                </a:solidFill>
              </a:rPr>
              <a:t>Essa função externa será chamada passando o objeto atual do vetor e esperará um retorno </a:t>
            </a:r>
            <a:r>
              <a:rPr lang="pt-BR" sz="2800" dirty="0" err="1">
                <a:solidFill>
                  <a:srgbClr val="FF0066"/>
                </a:solidFill>
              </a:rPr>
              <a:t>true</a:t>
            </a:r>
            <a:r>
              <a:rPr lang="pt-BR" sz="2800">
                <a:solidFill>
                  <a:srgbClr val="FF0066"/>
                </a:solidFill>
              </a:rPr>
              <a:t> </a:t>
            </a:r>
            <a:r>
              <a:rPr lang="pt-BR" sz="2800" dirty="0">
                <a:solidFill>
                  <a:srgbClr val="FF0066"/>
                </a:solidFill>
              </a:rPr>
              <a:t>caso a função externa determine que o objeto atual contém o valor de busca, ou false, caso contrário.</a:t>
            </a:r>
            <a:endParaRPr lang="pt-BR" sz="2400" dirty="0">
              <a:solidFill>
                <a:srgbClr val="FF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14963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167</Words>
  <Application>Microsoft Office PowerPoint</Application>
  <PresentationFormat>Apresentação na tela (4:3)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Dreaming Outloud Script Pro</vt:lpstr>
      <vt:lpstr>Impact</vt:lpstr>
      <vt:lpstr>Tema do Office</vt:lpstr>
      <vt:lpstr>“BUSCA SEQUENCIAL”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JavaScritp</dc:title>
  <dc:creator>Alexandre Gomes</dc:creator>
  <cp:lastModifiedBy>ALEXANDRE GOMES DA SILVA</cp:lastModifiedBy>
  <cp:revision>57</cp:revision>
  <dcterms:created xsi:type="dcterms:W3CDTF">2020-01-22T14:41:03Z</dcterms:created>
  <dcterms:modified xsi:type="dcterms:W3CDTF">2026-02-07T21:57:55Z</dcterms:modified>
</cp:coreProperties>
</file>