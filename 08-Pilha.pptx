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9" r:id="rId2"/>
    <p:sldId id="286" r:id="rId3"/>
    <p:sldId id="288" r:id="rId4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66"/>
    <a:srgbClr val="E11F3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62" autoAdjust="0"/>
    <p:restoredTop sz="93238" autoAdjust="0"/>
  </p:normalViewPr>
  <p:slideViewPr>
    <p:cSldViewPr>
      <p:cViewPr varScale="1">
        <p:scale>
          <a:sx n="73" d="100"/>
          <a:sy n="73" d="100"/>
        </p:scale>
        <p:origin x="1661" y="43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1563A-35C7-49EE-9FEB-8EB53781E0B1}" type="datetimeFigureOut">
              <a:rPr lang="pt-BR" smtClean="0"/>
              <a:t>07/02/2026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D665B-AE82-421C-9889-B36DA14A18A9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5039821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1563A-35C7-49EE-9FEB-8EB53781E0B1}" type="datetimeFigureOut">
              <a:rPr lang="pt-BR" smtClean="0"/>
              <a:t>07/02/2026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D665B-AE82-421C-9889-B36DA14A18A9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480522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1563A-35C7-49EE-9FEB-8EB53781E0B1}" type="datetimeFigureOut">
              <a:rPr lang="pt-BR" smtClean="0"/>
              <a:t>07/02/2026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D665B-AE82-421C-9889-B36DA14A18A9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148396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1563A-35C7-49EE-9FEB-8EB53781E0B1}" type="datetimeFigureOut">
              <a:rPr lang="pt-BR" smtClean="0"/>
              <a:t>07/02/2026</a:t>
            </a:fld>
            <a:endParaRPr lang="pt-BR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D665B-AE82-421C-9889-B36DA14A18A9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6280099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1563A-35C7-49EE-9FEB-8EB53781E0B1}" type="datetimeFigureOut">
              <a:rPr lang="pt-BR" smtClean="0"/>
              <a:t>07/02/2026</a:t>
            </a:fld>
            <a:endParaRPr lang="pt-BR" dirty="0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D665B-AE82-421C-9889-B36DA14A18A9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770072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1563A-35C7-49EE-9FEB-8EB53781E0B1}" type="datetimeFigureOut">
              <a:rPr lang="pt-BR" smtClean="0"/>
              <a:t>07/02/2026</a:t>
            </a:fld>
            <a:endParaRPr lang="pt-BR" dirty="0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D665B-AE82-421C-9889-B36DA14A18A9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077456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1563A-35C7-49EE-9FEB-8EB53781E0B1}" type="datetimeFigureOut">
              <a:rPr lang="pt-BR" smtClean="0"/>
              <a:t>07/02/2026</a:t>
            </a:fld>
            <a:endParaRPr lang="pt-BR" dirty="0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D665B-AE82-421C-9889-B36DA14A18A9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502439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1563A-35C7-49EE-9FEB-8EB53781E0B1}" type="datetimeFigureOut">
              <a:rPr lang="pt-BR" smtClean="0"/>
              <a:t>07/02/2026</a:t>
            </a:fld>
            <a:endParaRPr lang="pt-BR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D665B-AE82-421C-9889-B36DA14A18A9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5936557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1563A-35C7-49EE-9FEB-8EB53781E0B1}" type="datetimeFigureOut">
              <a:rPr lang="pt-BR" smtClean="0"/>
              <a:t>07/02/2026</a:t>
            </a:fld>
            <a:endParaRPr lang="pt-BR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D665B-AE82-421C-9889-B36DA14A18A9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0397093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1563A-35C7-49EE-9FEB-8EB53781E0B1}" type="datetimeFigureOut">
              <a:rPr lang="pt-BR" smtClean="0"/>
              <a:t>07/02/2026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D665B-AE82-421C-9889-B36DA14A18A9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0461165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1563A-35C7-49EE-9FEB-8EB53781E0B1}" type="datetimeFigureOut">
              <a:rPr lang="pt-BR" smtClean="0"/>
              <a:t>07/02/2026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D665B-AE82-421C-9889-B36DA14A18A9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9983875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61563A-35C7-49EE-9FEB-8EB53781E0B1}" type="datetimeFigureOut">
              <a:rPr lang="pt-BR" smtClean="0"/>
              <a:t>07/02/2026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9D665B-AE82-421C-9889-B36DA14A18A9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735079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gi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Agrupar 15">
            <a:extLst>
              <a:ext uri="{FF2B5EF4-FFF2-40B4-BE49-F238E27FC236}">
                <a16:creationId xmlns:a16="http://schemas.microsoft.com/office/drawing/2014/main" id="{C793E54F-88E8-16E3-AA0D-CA57A2948CC9}"/>
              </a:ext>
            </a:extLst>
          </p:cNvPr>
          <p:cNvGrpSpPr/>
          <p:nvPr/>
        </p:nvGrpSpPr>
        <p:grpSpPr>
          <a:xfrm>
            <a:off x="3528742" y="1011208"/>
            <a:ext cx="5507754" cy="4013036"/>
            <a:chOff x="3528742" y="1038240"/>
            <a:chExt cx="5507754" cy="4013036"/>
          </a:xfrm>
        </p:grpSpPr>
        <p:pic>
          <p:nvPicPr>
            <p:cNvPr id="1026" name="Picture 2" descr="Resultado de imagem para JS"/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9808" t="10773" r="19724" b="10902"/>
            <a:stretch/>
          </p:blipFill>
          <p:spPr bwMode="auto">
            <a:xfrm>
              <a:off x="3528742" y="1038240"/>
              <a:ext cx="5507754" cy="401303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3" name="Picture 2" descr="Resultado de imagem para JS">
              <a:extLst>
                <a:ext uri="{FF2B5EF4-FFF2-40B4-BE49-F238E27FC236}">
                  <a16:creationId xmlns:a16="http://schemas.microsoft.com/office/drawing/2014/main" id="{AE6353BD-0D9E-22B7-E114-31FF25F9C44C}"/>
                </a:ext>
              </a:extLst>
            </p:cNvPr>
            <p:cNvPicPr>
              <a:picLocks noChangeArrowheads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2297" t="45124" r="41422" b="38398"/>
            <a:stretch>
              <a:fillRect/>
            </a:stretch>
          </p:blipFill>
          <p:spPr bwMode="auto">
            <a:xfrm rot="2875517">
              <a:off x="7359489" y="3058432"/>
              <a:ext cx="413298" cy="61021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4" name="Picture 2" descr="Resultado de imagem para JS">
              <a:extLst>
                <a:ext uri="{FF2B5EF4-FFF2-40B4-BE49-F238E27FC236}">
                  <a16:creationId xmlns:a16="http://schemas.microsoft.com/office/drawing/2014/main" id="{54641B3D-597E-C89B-D0C1-01DBB3BBC52B}"/>
                </a:ext>
              </a:extLst>
            </p:cNvPr>
            <p:cNvPicPr>
              <a:picLocks noChangeArrowheads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2297" t="45124" r="41422" b="38398"/>
            <a:stretch>
              <a:fillRect/>
            </a:stretch>
          </p:blipFill>
          <p:spPr bwMode="auto">
            <a:xfrm rot="2875517">
              <a:off x="7133133" y="2833662"/>
              <a:ext cx="413298" cy="61021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" name="Picture 2" descr="Resultado de imagem para JS">
              <a:extLst>
                <a:ext uri="{FF2B5EF4-FFF2-40B4-BE49-F238E27FC236}">
                  <a16:creationId xmlns:a16="http://schemas.microsoft.com/office/drawing/2014/main" id="{4818BC0B-525A-7E91-FBA6-B396B9AE2A7F}"/>
                </a:ext>
              </a:extLst>
            </p:cNvPr>
            <p:cNvPicPr>
              <a:picLocks noChangeArrowheads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2297" t="45124" r="41422" b="38398"/>
            <a:stretch>
              <a:fillRect/>
            </a:stretch>
          </p:blipFill>
          <p:spPr bwMode="auto">
            <a:xfrm rot="2875517">
              <a:off x="7085980" y="3353357"/>
              <a:ext cx="413298" cy="61021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0" y="5229200"/>
            <a:ext cx="9144000" cy="1628800"/>
          </a:xfrm>
          <a:solidFill>
            <a:srgbClr val="FFFF00"/>
          </a:solidFill>
        </p:spPr>
        <p:txBody>
          <a:bodyPr>
            <a:noAutofit/>
          </a:bodyPr>
          <a:lstStyle/>
          <a:p>
            <a:r>
              <a:rPr lang="pt-BR" sz="6600" dirty="0">
                <a:solidFill>
                  <a:srgbClr val="7030A0"/>
                </a:solidFill>
                <a:latin typeface="Impact" panose="020B0806030902050204" pitchFamily="34" charset="0"/>
                <a:cs typeface="Arial" pitchFamily="34" charset="0"/>
              </a:rPr>
              <a:t>“</a:t>
            </a:r>
            <a:r>
              <a:rPr lang="pt-BR" sz="6600" dirty="0">
                <a:latin typeface="Impact" panose="020B0806030902050204" pitchFamily="34" charset="0"/>
                <a:cs typeface="Arial" pitchFamily="34" charset="0"/>
              </a:rPr>
              <a:t>PILHA</a:t>
            </a:r>
            <a:r>
              <a:rPr lang="pt-BR" sz="6600" dirty="0">
                <a:solidFill>
                  <a:srgbClr val="7030A0"/>
                </a:solidFill>
                <a:latin typeface="Impact" panose="020B0806030902050204" pitchFamily="34" charset="0"/>
                <a:cs typeface="Arial" pitchFamily="34" charset="0"/>
              </a:rPr>
              <a:t>”</a:t>
            </a:r>
            <a:endParaRPr lang="pt-BR" sz="4000" b="1" dirty="0">
              <a:solidFill>
                <a:srgbClr val="7030A0"/>
              </a:solidFill>
              <a:latin typeface="Impact" panose="020B0806030902050204" pitchFamily="34" charset="0"/>
              <a:cs typeface="Arial" pitchFamily="34" charset="0"/>
            </a:endParaRPr>
          </a:p>
        </p:txBody>
      </p:sp>
      <p:sp useBgFill="1">
        <p:nvSpPr>
          <p:cNvPr id="7" name="CaixaDeTexto 6"/>
          <p:cNvSpPr txBox="1"/>
          <p:nvPr/>
        </p:nvSpPr>
        <p:spPr>
          <a:xfrm>
            <a:off x="35496" y="3302056"/>
            <a:ext cx="3811040" cy="1077218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r"/>
            <a:r>
              <a:rPr lang="pt-BR" sz="3200" dirty="0">
                <a:solidFill>
                  <a:srgbClr val="E11F3B"/>
                </a:solidFill>
                <a:latin typeface="Dreaming Outloud Script Pro" panose="03050502040304050704" pitchFamily="66" charset="0"/>
                <a:cs typeface="Dreaming Outloud Script Pro" panose="03050502040304050704" pitchFamily="66" charset="0"/>
              </a:rPr>
              <a:t>Prof.º</a:t>
            </a:r>
          </a:p>
          <a:p>
            <a:pPr algn="r"/>
            <a:r>
              <a:rPr lang="pt-BR" sz="3200" dirty="0">
                <a:solidFill>
                  <a:srgbClr val="E11F3B"/>
                </a:solidFill>
                <a:latin typeface="Dreaming Outloud Script Pro" panose="03050502040304050704" pitchFamily="66" charset="0"/>
                <a:cs typeface="Dreaming Outloud Script Pro" panose="03050502040304050704" pitchFamily="66" charset="0"/>
              </a:rPr>
              <a:t>Alexandre Gomes</a:t>
            </a:r>
          </a:p>
        </p:txBody>
      </p:sp>
      <p:sp>
        <p:nvSpPr>
          <p:cNvPr id="3" name="Retângulo 2"/>
          <p:cNvSpPr/>
          <p:nvPr/>
        </p:nvSpPr>
        <p:spPr>
          <a:xfrm>
            <a:off x="189672" y="4232156"/>
            <a:ext cx="388843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000" dirty="0">
                <a:solidFill>
                  <a:srgbClr val="00B0F0"/>
                </a:solidFill>
              </a:rPr>
              <a:t>alexandre.</a:t>
            </a:r>
            <a:r>
              <a:rPr lang="pt-BR" sz="2000" dirty="0">
                <a:solidFill>
                  <a:srgbClr val="FFFF00"/>
                </a:solidFill>
              </a:rPr>
              <a:t>silva</a:t>
            </a:r>
            <a:r>
              <a:rPr lang="pt-BR" sz="2000" dirty="0">
                <a:solidFill>
                  <a:srgbClr val="00B050"/>
                </a:solidFill>
              </a:rPr>
              <a:t>251</a:t>
            </a:r>
            <a:r>
              <a:rPr lang="pt-BR" sz="2000" dirty="0">
                <a:solidFill>
                  <a:srgbClr val="7030A0"/>
                </a:solidFill>
              </a:rPr>
              <a:t>@fatec.</a:t>
            </a:r>
            <a:r>
              <a:rPr lang="pt-BR" sz="2000" dirty="0">
                <a:solidFill>
                  <a:schemeClr val="bg1"/>
                </a:solidFill>
              </a:rPr>
              <a:t>sp.</a:t>
            </a:r>
            <a:r>
              <a:rPr lang="pt-BR" sz="2000" dirty="0">
                <a:solidFill>
                  <a:schemeClr val="accent6">
                    <a:lumMod val="75000"/>
                  </a:schemeClr>
                </a:solidFill>
              </a:rPr>
              <a:t>gov.</a:t>
            </a:r>
            <a:r>
              <a:rPr lang="pt-BR" sz="2000" dirty="0">
                <a:solidFill>
                  <a:srgbClr val="FF0066"/>
                </a:solidFill>
              </a:rPr>
              <a:t>br</a:t>
            </a:r>
          </a:p>
        </p:txBody>
      </p:sp>
      <p:pic>
        <p:nvPicPr>
          <p:cNvPr id="4" name="Picture 2" descr="Java (programming language) - Wikipedia">
            <a:extLst>
              <a:ext uri="{FF2B5EF4-FFF2-40B4-BE49-F238E27FC236}">
                <a16:creationId xmlns:a16="http://schemas.microsoft.com/office/drawing/2014/main" id="{B58762D3-4FA3-88CD-AEF6-E8F4E8AD1F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7939" y="1163042"/>
            <a:ext cx="960888" cy="17619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6" name="Picture 22" descr="Using Cordova with Apache NetBeans | Andres Zsogon">
            <a:extLst>
              <a:ext uri="{FF2B5EF4-FFF2-40B4-BE49-F238E27FC236}">
                <a16:creationId xmlns:a16="http://schemas.microsoft.com/office/drawing/2014/main" id="{7C5D3942-F637-1A16-B327-C695A61FE7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394" y="342613"/>
            <a:ext cx="3035980" cy="948744"/>
          </a:xfrm>
          <a:prstGeom prst="rect">
            <a:avLst/>
          </a:prstGeom>
          <a:noFill/>
          <a:ln>
            <a:noFill/>
          </a:ln>
          <a:effectLst>
            <a:outerShdw blurRad="63500" sx="102000" sy="102000" algn="ctr" rotWithShape="0">
              <a:srgbClr val="FFFF00"/>
            </a:outerShdw>
            <a:softEdge rad="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8" name="Picture 24" descr="Ícones, Logotipos, Símbolos de Java – Baixe gratuitamente em PNG, SVG">
            <a:extLst>
              <a:ext uri="{FF2B5EF4-FFF2-40B4-BE49-F238E27FC236}">
                <a16:creationId xmlns:a16="http://schemas.microsoft.com/office/drawing/2014/main" id="{9207BAD6-AB33-0C8A-2137-7DB694BC7A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9017503">
            <a:off x="6312503" y="2467666"/>
            <a:ext cx="1453079" cy="14530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Imagem 18" descr="Texto, Logotipo&#10;&#10;O conteúdo gerado por IA pode estar incorreto.">
            <a:extLst>
              <a:ext uri="{FF2B5EF4-FFF2-40B4-BE49-F238E27FC236}">
                <a16:creationId xmlns:a16="http://schemas.microsoft.com/office/drawing/2014/main" id="{FD5247E8-68CC-43A6-DA12-BEB3EED2230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4114" y="4557915"/>
            <a:ext cx="2093870" cy="655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5070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/>
          <p:cNvSpPr/>
          <p:nvPr/>
        </p:nvSpPr>
        <p:spPr>
          <a:xfrm>
            <a:off x="324544" y="188640"/>
            <a:ext cx="8494912" cy="62478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4000" dirty="0">
                <a:solidFill>
                  <a:srgbClr val="FFFF00"/>
                </a:solidFill>
              </a:rPr>
              <a:t>PILHA</a:t>
            </a:r>
            <a:endParaRPr lang="pt-BR" sz="1400" dirty="0">
              <a:solidFill>
                <a:srgbClr val="FF0066"/>
              </a:solidFill>
            </a:endParaRPr>
          </a:p>
          <a:p>
            <a:pPr algn="just"/>
            <a:r>
              <a:rPr lang="pt-BR" sz="3600" dirty="0">
                <a:solidFill>
                  <a:srgbClr val="FF0066"/>
                </a:solidFill>
              </a:rPr>
              <a:t>	É uma estrutura de dados em que, usando uma lista linear (vetor) como base, permite inserções apenas no final e remoções também a partir do final.</a:t>
            </a:r>
          </a:p>
          <a:p>
            <a:pPr algn="just"/>
            <a:r>
              <a:rPr lang="pt-BR" sz="3600" dirty="0">
                <a:solidFill>
                  <a:srgbClr val="FF0066"/>
                </a:solidFill>
              </a:rPr>
              <a:t>	Com isso, temos o comportamento conhecido como LIFO - </a:t>
            </a:r>
            <a:r>
              <a:rPr lang="pt-BR" sz="3600" dirty="0" err="1">
                <a:solidFill>
                  <a:srgbClr val="FF0066"/>
                </a:solidFill>
              </a:rPr>
              <a:t>Last</a:t>
            </a:r>
            <a:r>
              <a:rPr lang="pt-BR" sz="3600" dirty="0">
                <a:solidFill>
                  <a:srgbClr val="FF0066"/>
                </a:solidFill>
              </a:rPr>
              <a:t> In, </a:t>
            </a:r>
            <a:r>
              <a:rPr lang="pt-BR" sz="3600" dirty="0" err="1">
                <a:solidFill>
                  <a:srgbClr val="FF0066"/>
                </a:solidFill>
              </a:rPr>
              <a:t>First</a:t>
            </a:r>
            <a:r>
              <a:rPr lang="pt-BR" sz="3600" dirty="0">
                <a:solidFill>
                  <a:srgbClr val="FF0066"/>
                </a:solidFill>
              </a:rPr>
              <a:t> Out (último a entrar, primeiro a sair).</a:t>
            </a:r>
          </a:p>
          <a:p>
            <a:pPr algn="just"/>
            <a:r>
              <a:rPr lang="pt-BR" sz="3600" dirty="0">
                <a:solidFill>
                  <a:srgbClr val="FF0066"/>
                </a:solidFill>
              </a:rPr>
              <a:t>	Pilhas são usadas em tarefas computacionais que requerem a inversão da ordem de entrada dos dados.</a:t>
            </a:r>
          </a:p>
        </p:txBody>
      </p:sp>
    </p:spTree>
    <p:extLst>
      <p:ext uri="{BB962C8B-B14F-4D97-AF65-F5344CB8AC3E}">
        <p14:creationId xmlns:p14="http://schemas.microsoft.com/office/powerpoint/2010/main" val="38513489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tack and Queue in Java - Scaler Topics - Scaler Topics">
            <a:extLst>
              <a:ext uri="{FF2B5EF4-FFF2-40B4-BE49-F238E27FC236}">
                <a16:creationId xmlns:a16="http://schemas.microsoft.com/office/drawing/2014/main" id="{C9D35AFE-97CF-69CE-0D1B-EA501991C86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651" t="7429" r="19288" b="21264"/>
          <a:stretch/>
        </p:blipFill>
        <p:spPr bwMode="auto">
          <a:xfrm>
            <a:off x="1979712" y="1016732"/>
            <a:ext cx="5400600" cy="4824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EF32E6F8-65FE-4EAA-C01E-CA02E226F1E6}"/>
              </a:ext>
            </a:extLst>
          </p:cNvPr>
          <p:cNvSpPr txBox="1"/>
          <p:nvPr/>
        </p:nvSpPr>
        <p:spPr>
          <a:xfrm>
            <a:off x="5680" y="44624"/>
            <a:ext cx="91440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4400" dirty="0">
                <a:solidFill>
                  <a:srgbClr val="FFFF00"/>
                </a:solidFill>
              </a:rPr>
              <a:t>LIFO (</a:t>
            </a:r>
            <a:r>
              <a:rPr lang="pt-BR" sz="4400" dirty="0" err="1">
                <a:solidFill>
                  <a:srgbClr val="FFFF00"/>
                </a:solidFill>
              </a:rPr>
              <a:t>Last</a:t>
            </a:r>
            <a:r>
              <a:rPr lang="pt-BR" sz="4400" dirty="0">
                <a:solidFill>
                  <a:srgbClr val="FFFF00"/>
                </a:solidFill>
              </a:rPr>
              <a:t> In, </a:t>
            </a:r>
            <a:r>
              <a:rPr lang="pt-BR" sz="4400" dirty="0" err="1">
                <a:solidFill>
                  <a:srgbClr val="FFFF00"/>
                </a:solidFill>
              </a:rPr>
              <a:t>First</a:t>
            </a:r>
            <a:r>
              <a:rPr lang="pt-BR" sz="4400" dirty="0">
                <a:solidFill>
                  <a:srgbClr val="FFFF00"/>
                </a:solidFill>
              </a:rPr>
              <a:t> Out)</a:t>
            </a:r>
          </a:p>
        </p:txBody>
      </p:sp>
    </p:spTree>
    <p:extLst>
      <p:ext uri="{BB962C8B-B14F-4D97-AF65-F5344CB8AC3E}">
        <p14:creationId xmlns:p14="http://schemas.microsoft.com/office/powerpoint/2010/main" val="339081863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598</TotalTime>
  <Words>103</Words>
  <Application>Microsoft Office PowerPoint</Application>
  <PresentationFormat>Apresentação na tela (4:3)</PresentationFormat>
  <Paragraphs>9</Paragraphs>
  <Slides>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</vt:i4>
      </vt:variant>
    </vt:vector>
  </HeadingPairs>
  <TitlesOfParts>
    <vt:vector size="8" baseType="lpstr">
      <vt:lpstr>Arial</vt:lpstr>
      <vt:lpstr>Calibri</vt:lpstr>
      <vt:lpstr>Dreaming Outloud Script Pro</vt:lpstr>
      <vt:lpstr>Impact</vt:lpstr>
      <vt:lpstr>Tema do Office</vt:lpstr>
      <vt:lpstr>“PILHA”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JavaScritp</dc:title>
  <dc:creator>Alexandre Gomes</dc:creator>
  <cp:lastModifiedBy>ALEXANDRE GOMES DA SILVA</cp:lastModifiedBy>
  <cp:revision>70</cp:revision>
  <dcterms:created xsi:type="dcterms:W3CDTF">2020-01-22T14:41:03Z</dcterms:created>
  <dcterms:modified xsi:type="dcterms:W3CDTF">2026-02-07T22:08:13Z</dcterms:modified>
</cp:coreProperties>
</file>