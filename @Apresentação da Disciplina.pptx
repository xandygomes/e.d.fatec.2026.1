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7" r:id="rId3"/>
    <p:sldId id="256" r:id="rId4"/>
    <p:sldId id="262" r:id="rId5"/>
    <p:sldId id="263" r:id="rId6"/>
    <p:sldId id="265" r:id="rId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E11F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2277" autoAdjust="0"/>
  </p:normalViewPr>
  <p:slideViewPr>
    <p:cSldViewPr>
      <p:cViewPr varScale="1">
        <p:scale>
          <a:sx n="73" d="100"/>
          <a:sy n="73" d="100"/>
        </p:scale>
        <p:origin x="1661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3982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805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483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800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700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7745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0243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365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9709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611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838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3507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A9788-781E-7502-9B52-989D1B1CC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D573BA1-0FEF-A57F-5C0F-E6F09A01D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52" y="0"/>
            <a:ext cx="9144000" cy="4567513"/>
          </a:xfrm>
          <a:prstGeom prst="rect">
            <a:avLst/>
          </a:prstGeom>
        </p:spPr>
      </p:pic>
      <p:pic>
        <p:nvPicPr>
          <p:cNvPr id="9" name="Imagem 8" descr="Interface gráfica do usuário, Site">
            <a:extLst>
              <a:ext uri="{FF2B5EF4-FFF2-40B4-BE49-F238E27FC236}">
                <a16:creationId xmlns:a16="http://schemas.microsoft.com/office/drawing/2014/main" id="{DA12A06D-D497-3796-725A-CFFAF9EC33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0" t="34650" r="914" b="34901"/>
          <a:stretch/>
        </p:blipFill>
        <p:spPr>
          <a:xfrm>
            <a:off x="6212944" y="2314078"/>
            <a:ext cx="2592288" cy="179744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8CE72E6-1FF0-8766-BC11-5ABBF8C69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2338" y="4163412"/>
            <a:ext cx="1032574" cy="371081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AE37C4EE-8284-1C7A-C6FC-841B09553CAD}"/>
              </a:ext>
            </a:extLst>
          </p:cNvPr>
          <p:cNvSpPr txBox="1"/>
          <p:nvPr/>
        </p:nvSpPr>
        <p:spPr>
          <a:xfrm>
            <a:off x="0" y="4694664"/>
            <a:ext cx="9141647" cy="204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Font typeface="Arial" panose="020B0604020202020204" pitchFamily="34" charset="0"/>
              <a:buChar char="•"/>
            </a:pPr>
            <a:r>
              <a:rPr lang="pt-BR" sz="1600" b="1" i="0" dirty="0">
                <a:solidFill>
                  <a:srgbClr val="F8FAFF"/>
                </a:solidFill>
                <a:effectLst/>
                <a:latin typeface="Inter"/>
              </a:rPr>
              <a:t> Mestre em Computação Aplicada em Biociência (USP)</a:t>
            </a:r>
          </a:p>
          <a:p>
            <a:pPr algn="ctr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pt-BR" sz="1600" b="1" i="0" dirty="0">
                <a:solidFill>
                  <a:srgbClr val="F8FAFF"/>
                </a:solidFill>
                <a:effectLst/>
                <a:latin typeface="Inter"/>
              </a:rPr>
              <a:t> Especialização MBA em Gestão de Tecnologia da Informação (Faculdade Anhanguera)</a:t>
            </a:r>
          </a:p>
          <a:p>
            <a:pPr algn="ctr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pt-BR" sz="1600" b="1" i="0" dirty="0">
                <a:solidFill>
                  <a:srgbClr val="F8FAFF"/>
                </a:solidFill>
                <a:effectLst/>
                <a:latin typeface="Inter"/>
              </a:rPr>
              <a:t> Pós-Graduação em Docência no Ensino Superior (Centro Universitário Barão de Mauá)</a:t>
            </a:r>
          </a:p>
          <a:p>
            <a:pPr algn="ctr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pt-BR" sz="1600" b="1" i="0" dirty="0">
                <a:solidFill>
                  <a:srgbClr val="F8FAFF"/>
                </a:solidFill>
                <a:effectLst/>
                <a:latin typeface="Inter"/>
              </a:rPr>
              <a:t> Pós-Graduação em Gestão Escolar (Centro Universitário Barão de Mauá)</a:t>
            </a:r>
          </a:p>
          <a:p>
            <a:pPr algn="ctr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pt-BR" sz="1600" b="1" i="0" dirty="0">
                <a:solidFill>
                  <a:srgbClr val="F8FAFF"/>
                </a:solidFill>
                <a:effectLst/>
                <a:latin typeface="Inter"/>
              </a:rPr>
              <a:t> Licenciatura - Formação Pedagógica em Matemática (Faculdade Anhanguera)</a:t>
            </a:r>
          </a:p>
          <a:p>
            <a:pPr algn="ctr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pt-BR" sz="1600" b="1" i="0" dirty="0">
                <a:solidFill>
                  <a:srgbClr val="F8FAFF"/>
                </a:solidFill>
                <a:effectLst/>
                <a:latin typeface="Inter"/>
              </a:rPr>
              <a:t> Curso Superior de Tecnologia em Análise e Desenvolvimento de Sistemas (FATEC)</a:t>
            </a:r>
          </a:p>
          <a:p>
            <a:pPr algn="ctr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pt-BR" sz="1600" b="1" i="0" dirty="0">
                <a:solidFill>
                  <a:srgbClr val="F8FAFF"/>
                </a:solidFill>
                <a:effectLst/>
                <a:latin typeface="Inter"/>
              </a:rPr>
              <a:t> Curso Superior de Formação Específica em Informática Empresarial e Comercial (UNIFRAN)</a:t>
            </a:r>
          </a:p>
        </p:txBody>
      </p:sp>
    </p:spTree>
    <p:extLst>
      <p:ext uri="{BB962C8B-B14F-4D97-AF65-F5344CB8AC3E}">
        <p14:creationId xmlns:p14="http://schemas.microsoft.com/office/powerpoint/2010/main" val="268944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Resultado de imagem para programaçã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345"/>
            <a:ext cx="914399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AD081224-7062-42D5-AC83-0BE27E97D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" y="2592288"/>
            <a:ext cx="9144000" cy="1628800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pt-BR" sz="8800" b="1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“</a:t>
            </a:r>
            <a:r>
              <a:rPr lang="pt-BR" sz="8800" b="1" dirty="0">
                <a:latin typeface="Impact" panose="020B0806030902050204" pitchFamily="34" charset="0"/>
                <a:cs typeface="Arial" pitchFamily="34" charset="0"/>
              </a:rPr>
              <a:t>A</a:t>
            </a:r>
            <a:r>
              <a:rPr lang="pt-BR" sz="8800" b="1" dirty="0">
                <a:solidFill>
                  <a:srgbClr val="00B050"/>
                </a:solidFill>
                <a:latin typeface="Impact" panose="020B0806030902050204" pitchFamily="34" charset="0"/>
                <a:cs typeface="Arial" pitchFamily="34" charset="0"/>
              </a:rPr>
              <a:t>PRE</a:t>
            </a:r>
            <a:r>
              <a:rPr lang="pt-BR" sz="8800" b="1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SEN</a:t>
            </a:r>
            <a:r>
              <a:rPr lang="pt-BR" sz="8800" b="1" dirty="0">
                <a:solidFill>
                  <a:srgbClr val="00B0F0"/>
                </a:solidFill>
                <a:latin typeface="Impact" panose="020B0806030902050204" pitchFamily="34" charset="0"/>
                <a:cs typeface="Arial" pitchFamily="34" charset="0"/>
              </a:rPr>
              <a:t>TA</a:t>
            </a:r>
            <a:r>
              <a:rPr lang="pt-BR" sz="8800" b="1" dirty="0">
                <a:solidFill>
                  <a:srgbClr val="FFC000"/>
                </a:solidFill>
                <a:latin typeface="Impact" panose="020B0806030902050204" pitchFamily="34" charset="0"/>
                <a:cs typeface="Arial" pitchFamily="34" charset="0"/>
              </a:rPr>
              <a:t>ÇÃO</a:t>
            </a:r>
            <a:r>
              <a:rPr lang="pt-BR" sz="8800" b="1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”</a:t>
            </a:r>
            <a:endParaRPr lang="pt-BR" sz="4800" b="1" dirty="0">
              <a:solidFill>
                <a:srgbClr val="7030A0"/>
              </a:solidFill>
              <a:latin typeface="Impact" panose="020B0806030902050204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651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C793E54F-88E8-16E3-AA0D-CA57A2948CC9}"/>
              </a:ext>
            </a:extLst>
          </p:cNvPr>
          <p:cNvGrpSpPr/>
          <p:nvPr/>
        </p:nvGrpSpPr>
        <p:grpSpPr>
          <a:xfrm>
            <a:off x="3528742" y="1011208"/>
            <a:ext cx="5507754" cy="4013036"/>
            <a:chOff x="3528742" y="1038240"/>
            <a:chExt cx="5507754" cy="4013036"/>
          </a:xfrm>
        </p:grpSpPr>
        <p:pic>
          <p:nvPicPr>
            <p:cNvPr id="1026" name="Picture 2" descr="Resultado de imagem para JS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08" t="10773" r="19724" b="10902"/>
            <a:stretch/>
          </p:blipFill>
          <p:spPr bwMode="auto">
            <a:xfrm>
              <a:off x="3528742" y="1038240"/>
              <a:ext cx="5507754" cy="40130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Resultado de imagem para JS">
              <a:extLst>
                <a:ext uri="{FF2B5EF4-FFF2-40B4-BE49-F238E27FC236}">
                  <a16:creationId xmlns:a16="http://schemas.microsoft.com/office/drawing/2014/main" id="{AE6353BD-0D9E-22B7-E114-31FF25F9C44C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359489" y="305843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Resultado de imagem para JS">
              <a:extLst>
                <a:ext uri="{FF2B5EF4-FFF2-40B4-BE49-F238E27FC236}">
                  <a16:creationId xmlns:a16="http://schemas.microsoft.com/office/drawing/2014/main" id="{54641B3D-597E-C89B-D0C1-01DBB3BBC52B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133133" y="283366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Resultado de imagem para JS">
              <a:extLst>
                <a:ext uri="{FF2B5EF4-FFF2-40B4-BE49-F238E27FC236}">
                  <a16:creationId xmlns:a16="http://schemas.microsoft.com/office/drawing/2014/main" id="{4818BC0B-525A-7E91-FBA6-B396B9AE2A7F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085980" y="3353357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229200"/>
            <a:ext cx="9144000" cy="1628800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pt-BR" sz="6600" b="1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“</a:t>
            </a:r>
            <a:r>
              <a:rPr lang="pt-BR" sz="6600" b="1" dirty="0">
                <a:latin typeface="Impact" panose="020B0806030902050204" pitchFamily="34" charset="0"/>
                <a:cs typeface="Arial" pitchFamily="34" charset="0"/>
              </a:rPr>
              <a:t>ESTRUTURA DE DADOS</a:t>
            </a:r>
            <a:r>
              <a:rPr lang="pt-BR" sz="6600" b="1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”</a:t>
            </a:r>
            <a:endParaRPr lang="pt-BR" sz="4000" b="1" dirty="0">
              <a:solidFill>
                <a:srgbClr val="7030A0"/>
              </a:solidFill>
              <a:latin typeface="Impact" panose="020B0806030902050204" pitchFamily="34" charset="0"/>
              <a:cs typeface="Arial" pitchFamily="34" charset="0"/>
            </a:endParaRPr>
          </a:p>
        </p:txBody>
      </p:sp>
      <p:sp useBgFill="1">
        <p:nvSpPr>
          <p:cNvPr id="7" name="CaixaDeTexto 6"/>
          <p:cNvSpPr txBox="1"/>
          <p:nvPr/>
        </p:nvSpPr>
        <p:spPr>
          <a:xfrm>
            <a:off x="35496" y="3302056"/>
            <a:ext cx="3811040" cy="107721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Prof.º</a:t>
            </a:r>
          </a:p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Alexandre Gomes</a:t>
            </a:r>
          </a:p>
        </p:txBody>
      </p:sp>
      <p:sp>
        <p:nvSpPr>
          <p:cNvPr id="3" name="Retângulo 2"/>
          <p:cNvSpPr/>
          <p:nvPr/>
        </p:nvSpPr>
        <p:spPr>
          <a:xfrm>
            <a:off x="189672" y="4232156"/>
            <a:ext cx="38884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B0F0"/>
                </a:solidFill>
              </a:rPr>
              <a:t>alexandre.</a:t>
            </a:r>
            <a:r>
              <a:rPr lang="pt-BR" sz="2000" dirty="0">
                <a:solidFill>
                  <a:srgbClr val="FFFF00"/>
                </a:solidFill>
              </a:rPr>
              <a:t>silva</a:t>
            </a:r>
            <a:r>
              <a:rPr lang="pt-BR" sz="2000" dirty="0">
                <a:solidFill>
                  <a:srgbClr val="00B050"/>
                </a:solidFill>
              </a:rPr>
              <a:t>251</a:t>
            </a:r>
            <a:r>
              <a:rPr lang="pt-BR" sz="2000" dirty="0">
                <a:solidFill>
                  <a:srgbClr val="7030A0"/>
                </a:solidFill>
              </a:rPr>
              <a:t>@fatec.</a:t>
            </a:r>
            <a:r>
              <a:rPr lang="pt-BR" sz="2000" dirty="0">
                <a:solidFill>
                  <a:schemeClr val="bg1"/>
                </a:solidFill>
              </a:rPr>
              <a:t>sp.</a:t>
            </a:r>
            <a:r>
              <a:rPr lang="pt-BR" sz="2000" dirty="0">
                <a:solidFill>
                  <a:schemeClr val="accent6">
                    <a:lumMod val="75000"/>
                  </a:schemeClr>
                </a:solidFill>
              </a:rPr>
              <a:t>gov.</a:t>
            </a:r>
            <a:r>
              <a:rPr lang="pt-BR" sz="2000" dirty="0">
                <a:solidFill>
                  <a:srgbClr val="FF0066"/>
                </a:solidFill>
              </a:rPr>
              <a:t>br</a:t>
            </a:r>
          </a:p>
        </p:txBody>
      </p:sp>
      <p:pic>
        <p:nvPicPr>
          <p:cNvPr id="4" name="Picture 2" descr="Java (programming language) - Wikipedia">
            <a:extLst>
              <a:ext uri="{FF2B5EF4-FFF2-40B4-BE49-F238E27FC236}">
                <a16:creationId xmlns:a16="http://schemas.microsoft.com/office/drawing/2014/main" id="{B58762D3-4FA3-88CD-AEF6-E8F4E8AD1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939" y="1163042"/>
            <a:ext cx="960888" cy="176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Using Cordova with Apache NetBeans | Andres Zsogon">
            <a:extLst>
              <a:ext uri="{FF2B5EF4-FFF2-40B4-BE49-F238E27FC236}">
                <a16:creationId xmlns:a16="http://schemas.microsoft.com/office/drawing/2014/main" id="{7C5D3942-F637-1A16-B327-C695A61FE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94" y="342613"/>
            <a:ext cx="3035980" cy="94874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FFFF00"/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Ícones, Logotipos, Símbolos de Java – Baixe gratuitamente em PNG, SVG">
            <a:extLst>
              <a:ext uri="{FF2B5EF4-FFF2-40B4-BE49-F238E27FC236}">
                <a16:creationId xmlns:a16="http://schemas.microsoft.com/office/drawing/2014/main" id="{9207BAD6-AB33-0C8A-2137-7DB694BC7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17503">
            <a:off x="6312503" y="2467666"/>
            <a:ext cx="1453079" cy="1453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m 18" descr="Texto, Logotipo&#10;&#10;O conteúdo gerado por IA pode estar incorreto.">
            <a:extLst>
              <a:ext uri="{FF2B5EF4-FFF2-40B4-BE49-F238E27FC236}">
                <a16:creationId xmlns:a16="http://schemas.microsoft.com/office/drawing/2014/main" id="{FD5247E8-68CC-43A6-DA12-BEB3EED22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114" y="4557915"/>
            <a:ext cx="2093870" cy="65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824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"/>
          <p:cNvSpPr txBox="1">
            <a:spLocks/>
          </p:cNvSpPr>
          <p:nvPr/>
        </p:nvSpPr>
        <p:spPr>
          <a:xfrm>
            <a:off x="0" y="1313210"/>
            <a:ext cx="9144000" cy="531440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ESTRUTURA DE DADOS – 3º ADS</a:t>
            </a:r>
            <a:endParaRPr lang="pt-BR" sz="2000" b="1" dirty="0">
              <a:solidFill>
                <a:srgbClr val="7030A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283071" y="2204864"/>
            <a:ext cx="8537401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400" b="1" u="sng" dirty="0">
                <a:solidFill>
                  <a:schemeClr val="bg1"/>
                </a:solidFill>
              </a:rPr>
              <a:t>Ementa</a:t>
            </a:r>
            <a:r>
              <a:rPr lang="pt-BR" sz="2400" b="1" dirty="0">
                <a:solidFill>
                  <a:schemeClr val="bg1"/>
                </a:solidFill>
              </a:rPr>
              <a:t>: </a:t>
            </a:r>
            <a:r>
              <a:rPr lang="pt-BR" sz="2400" dirty="0">
                <a:solidFill>
                  <a:schemeClr val="bg1"/>
                </a:solidFill>
              </a:rPr>
              <a:t>Pilhas, filas, alocação dinâmica, recursividade, listas encadeadas, tabelas de espalhamento e árvores. Algoritmos de ordenação e busca.</a:t>
            </a:r>
          </a:p>
          <a:p>
            <a:pPr algn="just"/>
            <a:endParaRPr lang="pt-BR" sz="2400" dirty="0">
              <a:solidFill>
                <a:schemeClr val="bg1"/>
              </a:solidFill>
            </a:endParaRPr>
          </a:p>
          <a:p>
            <a:pPr algn="just"/>
            <a:r>
              <a:rPr lang="pt-BR" sz="2400" b="1" u="sng" dirty="0">
                <a:solidFill>
                  <a:schemeClr val="bg1"/>
                </a:solidFill>
              </a:rPr>
              <a:t>Objetivo</a:t>
            </a:r>
            <a:r>
              <a:rPr lang="pt-BR" sz="2400" dirty="0">
                <a:solidFill>
                  <a:schemeClr val="bg1"/>
                </a:solidFill>
              </a:rPr>
              <a:t>: Criar e manipular tipos abstratos de dados: listas, pilhas, filas e árvores. Discutir os algoritmos de ordenação e de busca.</a:t>
            </a:r>
          </a:p>
          <a:p>
            <a:pPr algn="just"/>
            <a:endParaRPr lang="pt-BR" sz="2400" dirty="0">
              <a:solidFill>
                <a:schemeClr val="bg1"/>
              </a:solidFill>
            </a:endParaRPr>
          </a:p>
          <a:p>
            <a:pPr algn="just"/>
            <a:r>
              <a:rPr lang="pt-BR" sz="2400" b="1" u="sng" dirty="0">
                <a:solidFill>
                  <a:schemeClr val="bg1"/>
                </a:solidFill>
              </a:rPr>
              <a:t>Bibliografia Básica:</a:t>
            </a:r>
            <a:r>
              <a:rPr lang="pt-BR" sz="2400" b="1" dirty="0">
                <a:solidFill>
                  <a:schemeClr val="bg1"/>
                </a:solidFill>
              </a:rPr>
              <a:t> </a:t>
            </a:r>
            <a:r>
              <a:rPr lang="pt-BR" sz="2000" dirty="0">
                <a:solidFill>
                  <a:schemeClr val="bg1"/>
                </a:solidFill>
              </a:rPr>
              <a:t>EDELWEISS, N; GALANTE, R. Estruturas de Dados. Livros Didáticos UFRGS, V.18. Bookman, 2009.</a:t>
            </a:r>
          </a:p>
          <a:p>
            <a:pPr algn="just"/>
            <a:r>
              <a:rPr lang="pt-BR" sz="2000" dirty="0">
                <a:solidFill>
                  <a:schemeClr val="bg1"/>
                </a:solidFill>
              </a:rPr>
              <a:t>KOFFMANN, E. B. Objetos, Abstração, Estrutura de Dados e Projeto. LTC, 2008.</a:t>
            </a:r>
          </a:p>
          <a:p>
            <a:pPr algn="just"/>
            <a:r>
              <a:rPr lang="pt-BR" sz="2000" dirty="0">
                <a:solidFill>
                  <a:schemeClr val="bg1"/>
                </a:solidFill>
              </a:rPr>
              <a:t>PEREIRA, Silvio do Lago. Estruturas de Dados Fundamentais – Conceitos e Aplicações. 12ª edição, 2ª reimpressão, São Paulo: Érica, 2009.</a:t>
            </a:r>
          </a:p>
        </p:txBody>
      </p:sp>
    </p:spTree>
    <p:extLst>
      <p:ext uri="{BB962C8B-B14F-4D97-AF65-F5344CB8AC3E}">
        <p14:creationId xmlns:p14="http://schemas.microsoft.com/office/powerpoint/2010/main" val="618183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99E411AC-F7D6-4045-9D06-FD33DAFB35D0}"/>
              </a:ext>
            </a:extLst>
          </p:cNvPr>
          <p:cNvSpPr txBox="1">
            <a:spLocks/>
          </p:cNvSpPr>
          <p:nvPr/>
        </p:nvSpPr>
        <p:spPr>
          <a:xfrm>
            <a:off x="0" y="233264"/>
            <a:ext cx="9144000" cy="531440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ESTRUTURA DE DADOS – 3º ADS</a:t>
            </a:r>
            <a:endParaRPr lang="pt-BR" sz="2000" b="1" dirty="0">
              <a:solidFill>
                <a:srgbClr val="7030A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91D69861-4453-53B4-7B7C-278BA7BA4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968" y="974742"/>
            <a:ext cx="3011184" cy="569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111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283071" y="2226344"/>
            <a:ext cx="853740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Tx/>
              <a:buChar char="-"/>
            </a:pPr>
            <a:r>
              <a:rPr lang="pt-BR" sz="2400" b="1" u="sng" dirty="0">
                <a:solidFill>
                  <a:schemeClr val="bg1"/>
                </a:solidFill>
              </a:rPr>
              <a:t>Nota do 1º Bimestre</a:t>
            </a:r>
          </a:p>
          <a:p>
            <a:pPr marL="457200" indent="-457200" algn="just">
              <a:buFontTx/>
              <a:buChar char="-"/>
            </a:pPr>
            <a:r>
              <a:rPr lang="pt-BR" sz="2400" dirty="0">
                <a:solidFill>
                  <a:schemeClr val="bg1"/>
                </a:solidFill>
              </a:rPr>
              <a:t>Trabalho (T1): (Valor 2,0)</a:t>
            </a:r>
          </a:p>
          <a:p>
            <a:pPr marL="457200" indent="-457200" algn="just">
              <a:buFontTx/>
              <a:buChar char="-"/>
            </a:pPr>
            <a:r>
              <a:rPr lang="pt-BR" sz="2400" dirty="0">
                <a:solidFill>
                  <a:schemeClr val="bg1"/>
                </a:solidFill>
              </a:rPr>
              <a:t>Prova (P1): Recursividade, Algoritmos de Ordenação e Busca. (Valor 8,0)</a:t>
            </a:r>
          </a:p>
          <a:p>
            <a:pPr marL="457200" indent="-457200" algn="just">
              <a:buFontTx/>
              <a:buChar char="-"/>
            </a:pPr>
            <a:endParaRPr lang="pt-BR" sz="2400" dirty="0">
              <a:solidFill>
                <a:schemeClr val="bg1"/>
              </a:solidFill>
            </a:endParaRPr>
          </a:p>
          <a:p>
            <a:pPr marL="457200" indent="-457200" algn="just">
              <a:buFontTx/>
              <a:buChar char="-"/>
            </a:pPr>
            <a:r>
              <a:rPr lang="pt-BR" sz="2400" b="1" u="sng" dirty="0">
                <a:solidFill>
                  <a:schemeClr val="bg1"/>
                </a:solidFill>
              </a:rPr>
              <a:t>Nota do 2º Bimestre</a:t>
            </a:r>
          </a:p>
          <a:p>
            <a:pPr marL="457200" indent="-457200" algn="just">
              <a:buFontTx/>
              <a:buChar char="-"/>
            </a:pPr>
            <a:r>
              <a:rPr lang="pt-BR" sz="2400" dirty="0">
                <a:solidFill>
                  <a:schemeClr val="bg1"/>
                </a:solidFill>
              </a:rPr>
              <a:t>Trabalho (T2): (Valor 2,0)</a:t>
            </a:r>
          </a:p>
          <a:p>
            <a:pPr marL="457200" indent="-457200" algn="just">
              <a:buFontTx/>
              <a:buChar char="-"/>
            </a:pPr>
            <a:r>
              <a:rPr lang="pt-BR" sz="2400" dirty="0">
                <a:solidFill>
                  <a:schemeClr val="bg1"/>
                </a:solidFill>
              </a:rPr>
              <a:t>Prova (P2): Pilha, Fila, Deque, Lista Encadeada e Árvore Binária. (Valor 8,0)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5750E797-94C0-4463-9AD8-DC3E467F4979}"/>
              </a:ext>
            </a:extLst>
          </p:cNvPr>
          <p:cNvSpPr txBox="1">
            <a:spLocks/>
          </p:cNvSpPr>
          <p:nvPr/>
        </p:nvSpPr>
        <p:spPr>
          <a:xfrm>
            <a:off x="0" y="1313210"/>
            <a:ext cx="9144000" cy="531440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ESTRUTURA DE DADOS – 3º ADS</a:t>
            </a:r>
            <a:endParaRPr lang="pt-BR" sz="2000" b="1" dirty="0">
              <a:solidFill>
                <a:srgbClr val="7030A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2086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318</Words>
  <Application>Microsoft Office PowerPoint</Application>
  <PresentationFormat>Apresentação na tela (4:3)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Arial</vt:lpstr>
      <vt:lpstr>Calibri</vt:lpstr>
      <vt:lpstr>Dreaming Outloud Script Pro</vt:lpstr>
      <vt:lpstr>Impact</vt:lpstr>
      <vt:lpstr>Inter</vt:lpstr>
      <vt:lpstr>Tema do Office</vt:lpstr>
      <vt:lpstr>Apresentação do PowerPoint</vt:lpstr>
      <vt:lpstr>“APRESENTAÇÃO”</vt:lpstr>
      <vt:lpstr>“ESTRUTURA DE DADOS”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JavaScritp</dc:title>
  <dc:creator>Alexandre Gomes</dc:creator>
  <cp:lastModifiedBy>ALEXANDRE GOMES DA SILVA</cp:lastModifiedBy>
  <cp:revision>79</cp:revision>
  <dcterms:created xsi:type="dcterms:W3CDTF">2020-01-22T14:41:03Z</dcterms:created>
  <dcterms:modified xsi:type="dcterms:W3CDTF">2026-02-07T22:02:42Z</dcterms:modified>
</cp:coreProperties>
</file>